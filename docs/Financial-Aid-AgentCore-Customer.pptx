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Frame for a financial-aid, privacy, and compliance audience. The promise is governance first: this agent helps aid officers without ever stepping outside the controls FERPA, GLBA, and Title IV expect.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Meet the aid office where they are: volume pressure, manual toil, and a compliance bar that rules out ungoverned AI.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'does vs never' framing earns trust with privacy and program-integrity teams. The 'never' column is enforced by policy, not by prompt.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Blue = agent-assisted, amber = the aid officer, navy = the gated commit. Judgment stays human; toil goes to the agent.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control mapped to the requirement it satisfies — the slide your compliance and privacy stakeholders came for.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Your account, your data, your IdP, reversible. Addresses the security review that follows.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Reproducible and enforced. The Pell/SAP engine is deterministic and transparent, so an aid officer can defend each determination on appeal.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authoritative rules (and their compliance review), connectors, validation, and ATO stay with them. The shipped thresholds are illustrative.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Assist, not replacement. Emphasize consistency, audit-readiness for program reviews, and keeping aid officers in command.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a concrete, low-commitment path: synthetic-data, in-their-account, reversible — an easy yes for a privacy-conscious institution.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2A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95360" y="-1737360"/>
            <a:ext cx="5669280" cy="5669280"/>
          </a:xfrm>
          <a:prstGeom prst="ellipse">
            <a:avLst/>
          </a:prstGeom>
          <a:solidFill>
            <a:srgbClr val="143A5E"/>
          </a:solidFill>
          <a:ln/>
        </p:spPr>
      </p:sp>
      <p:sp>
        <p:nvSpPr>
          <p:cNvPr id="3" name="Shape 1"/>
          <p:cNvSpPr/>
          <p:nvPr/>
        </p:nvSpPr>
        <p:spPr>
          <a:xfrm>
            <a:off x="9509760" y="-822960"/>
            <a:ext cx="3840480" cy="3840480"/>
          </a:xfrm>
          <a:prstGeom prst="ellipse">
            <a:avLst/>
          </a:prstGeom>
          <a:solidFill>
            <a:srgbClr val="18466F"/>
          </a:solidFill>
          <a:ln/>
        </p:spPr>
      </p:sp>
      <p:sp>
        <p:nvSpPr>
          <p:cNvPr id="4" name="Shape 2"/>
          <p:cNvSpPr/>
          <p:nvPr/>
        </p:nvSpPr>
        <p:spPr>
          <a:xfrm>
            <a:off x="10287000" y="-45720"/>
            <a:ext cx="2286000" cy="228600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2801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FEDERAL STUDENT AID  ·  GOVERNED AI ON AWS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03504" y="1828800"/>
            <a:ext cx="102412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Governed AI for</a:t>
            </a:r>
            <a:endParaRPr lang="en-US" sz="42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Financial Aid Awarding</a:t>
            </a:r>
            <a:endParaRPr lang="en-US" sz="4200" dirty="0"/>
          </a:p>
        </p:txBody>
      </p:sp>
      <p:sp>
        <p:nvSpPr>
          <p:cNvPr id="7" name="Text 5"/>
          <p:cNvSpPr/>
          <p:nvPr/>
        </p:nvSpPr>
        <p:spPr>
          <a:xfrm>
            <a:off x="640080" y="3794760"/>
            <a:ext cx="9326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5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accelerator that intakes, de-identifies, screens, and drafts Title IV award determinations under strict governance — fail-closed on PII, tamper-proof by design, and never able to award on its own. Built on Amazon Bedrock AgentCore, running in your AWS account.</a:t>
            </a:r>
            <a:endParaRPr lang="en-US" sz="1550" dirty="0"/>
          </a:p>
        </p:txBody>
      </p:sp>
      <p:sp>
        <p:nvSpPr>
          <p:cNvPr id="8" name="Shape 6"/>
          <p:cNvSpPr/>
          <p:nvPr/>
        </p:nvSpPr>
        <p:spPr>
          <a:xfrm>
            <a:off x="640080" y="5303520"/>
            <a:ext cx="2670048" cy="457200"/>
          </a:xfrm>
          <a:prstGeom prst="roundRect">
            <a:avLst>
              <a:gd name="adj" fmla="val 50000"/>
            </a:avLst>
          </a:prstGeom>
          <a:solidFill>
            <a:srgbClr val="143A5E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" y="5303520"/>
            <a:ext cx="26700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Compliant by construction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538728" y="5303520"/>
            <a:ext cx="2212848" cy="457200"/>
          </a:xfrm>
          <a:prstGeom prst="roundRect">
            <a:avLst>
              <a:gd name="adj" fmla="val 50000"/>
            </a:avLst>
          </a:prstGeom>
          <a:solidFill>
            <a:srgbClr val="143A5E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38728" y="5303520"/>
            <a:ext cx="22128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in your account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980176" y="5303520"/>
            <a:ext cx="2395728" cy="457200"/>
          </a:xfrm>
          <a:prstGeom prst="roundRect">
            <a:avLst>
              <a:gd name="adj" fmla="val 50000"/>
            </a:avLst>
          </a:prstGeom>
          <a:solidFill>
            <a:srgbClr val="143A5E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980176" y="5303520"/>
            <a:ext cx="23957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Aid-officer-in-command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5603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CHALLENGE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FAFSA volumes rise. Every awarding step must stay compliant.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66928" y="137160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Applications surge every cycle, awarding is largely manual, and the deadlines don't wait. AI could take the assembly load off your aid officers — but only if it operates entirely inside your compliance envelope.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66928" y="2560320"/>
            <a:ext cx="3529584" cy="3108960"/>
          </a:xfrm>
          <a:prstGeom prst="roundRect">
            <a:avLst>
              <a:gd name="adj" fmla="val 2647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59536" y="2871216"/>
            <a:ext cx="566928" cy="566928"/>
          </a:xfrm>
          <a:prstGeom prst="ellipse">
            <a:avLst/>
          </a:prstGeom>
          <a:solidFill>
            <a:srgbClr val="1C7293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859536" y="287121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591056" y="2889504"/>
            <a:ext cx="23408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Volume &amp; deadlines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877824" y="3749040"/>
            <a:ext cx="29260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350" dirty="0">
                <a:solidFill>
                  <a:srgbClr val="34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Rising FAFSA counts against fixed packaging and disbursement deadlines each cycle.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4315968" y="2560320"/>
            <a:ext cx="3529584" cy="3108960"/>
          </a:xfrm>
          <a:prstGeom prst="roundRect">
            <a:avLst>
              <a:gd name="adj" fmla="val 2647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08576" y="2871216"/>
            <a:ext cx="566928" cy="566928"/>
          </a:xfrm>
          <a:prstGeom prst="ellipse">
            <a:avLst/>
          </a:prstGeom>
          <a:solidFill>
            <a:srgbClr val="E8A13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608576" y="287121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5340096" y="2889504"/>
            <a:ext cx="23408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Manual assembly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4626864" y="3749040"/>
            <a:ext cx="29260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350" dirty="0">
                <a:solidFill>
                  <a:srgbClr val="34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Skilled aid officers spend time on extraction, SAP checks, verification, and notice drafting — not judgment.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8065008" y="2560320"/>
            <a:ext cx="3529584" cy="3108960"/>
          </a:xfrm>
          <a:prstGeom prst="roundRect">
            <a:avLst>
              <a:gd name="adj" fmla="val 2647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8357616" y="2871216"/>
            <a:ext cx="566928" cy="56692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8357616" y="287121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9089136" y="2889504"/>
            <a:ext cx="23408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Zero compliance slack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8375904" y="3749040"/>
            <a:ext cx="29260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350" dirty="0">
                <a:solidFill>
                  <a:srgbClr val="34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FERPA/GLBA handling, Title IV program integrity, and the qualified-officer determination leave no room for an ungoverned tool.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548640" y="645566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Governed AI for Financial Aid · on Amazon Bedrock AgentCore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1338560" y="641908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E2A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5603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IDEA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64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 agent that does the assembly — and is structurally incapable of overstepping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566928" y="1783080"/>
            <a:ext cx="10789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intakes the FAFSA, de-identifies it, runs a transparent Pell + SAP check, drafts the award notice, and prepares it for review. Then it stops. A qualified aid officer makes the determination and commits — the agent cannot.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66928" y="2788920"/>
            <a:ext cx="5440680" cy="2880360"/>
          </a:xfrm>
          <a:prstGeom prst="roundRect">
            <a:avLst>
              <a:gd name="adj" fmla="val 3175"/>
            </a:avLst>
          </a:prstGeom>
          <a:solidFill>
            <a:srgbClr val="143A5E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86968" y="301752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DOES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886968" y="3520440"/>
            <a:ext cx="274320" cy="274320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86968" y="35204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280160" y="3474720"/>
            <a:ext cx="4526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Intake &amp; extract the decision fields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886968" y="3941064"/>
            <a:ext cx="274320" cy="274320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886968" y="394106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280160" y="3895344"/>
            <a:ext cx="4526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De-identify the application (fail-closed)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886968" y="4361688"/>
            <a:ext cx="274320" cy="274320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886968" y="436168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280160" y="4315968"/>
            <a:ext cx="4526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the Pell + SAP rules engine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886968" y="4782312"/>
            <a:ext cx="274320" cy="274320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886968" y="478231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280160" y="4736592"/>
            <a:ext cx="4526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 the award/determination notice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886968" y="5202936"/>
            <a:ext cx="274320" cy="274320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886968" y="520293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1280160" y="5157216"/>
            <a:ext cx="4526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 a tamper-proof audit + request sign-off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6199632" y="2788920"/>
            <a:ext cx="5440680" cy="2880360"/>
          </a:xfrm>
          <a:prstGeom prst="roundRect">
            <a:avLst>
              <a:gd name="adj" fmla="val 3175"/>
            </a:avLst>
          </a:prstGeom>
          <a:solidFill>
            <a:srgbClr val="143A5E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301752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NEVER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6519672" y="3520440"/>
            <a:ext cx="274320" cy="274320"/>
          </a:xfrm>
          <a:prstGeom prst="ellipse">
            <a:avLst/>
          </a:prstGeom>
          <a:solidFill>
            <a:srgbClr val="C0392B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6519672" y="35204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912864" y="3474720"/>
            <a:ext cx="4526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un-masked PII/education records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6519672" y="3941064"/>
            <a:ext cx="274320" cy="274320"/>
          </a:xfrm>
          <a:prstGeom prst="ellipse">
            <a:avLst/>
          </a:prstGeom>
          <a:solidFill>
            <a:srgbClr val="C0392B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6519672" y="394106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6912864" y="3895344"/>
            <a:ext cx="4526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Assess or draft on un-de-identified data</a:t>
            </a:r>
            <a:endParaRPr lang="en-US" sz="1250" dirty="0"/>
          </a:p>
        </p:txBody>
      </p:sp>
      <p:sp>
        <p:nvSpPr>
          <p:cNvPr id="30" name="Shape 28"/>
          <p:cNvSpPr/>
          <p:nvPr/>
        </p:nvSpPr>
        <p:spPr>
          <a:xfrm>
            <a:off x="6519672" y="4361688"/>
            <a:ext cx="274320" cy="274320"/>
          </a:xfrm>
          <a:prstGeom prst="ellipse">
            <a:avLst/>
          </a:prstGeom>
          <a:solidFill>
            <a:srgbClr val="C0392B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6519672" y="436168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6912864" y="4315968"/>
            <a:ext cx="4526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 its own work</a:t>
            </a:r>
            <a:endParaRPr lang="en-US" sz="1250" dirty="0"/>
          </a:p>
        </p:txBody>
      </p:sp>
      <p:sp>
        <p:nvSpPr>
          <p:cNvPr id="33" name="Shape 31"/>
          <p:cNvSpPr/>
          <p:nvPr/>
        </p:nvSpPr>
        <p:spPr>
          <a:xfrm>
            <a:off x="6519672" y="4782312"/>
            <a:ext cx="274320" cy="274320"/>
          </a:xfrm>
          <a:prstGeom prst="ellipse">
            <a:avLst/>
          </a:prstGeom>
          <a:solidFill>
            <a:srgbClr val="C0392B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34" name="Text 32"/>
          <p:cNvSpPr/>
          <p:nvPr/>
        </p:nvSpPr>
        <p:spPr>
          <a:xfrm>
            <a:off x="6519672" y="478231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6912864" y="4736592"/>
            <a:ext cx="4526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 the award</a:t>
            </a:r>
            <a:endParaRPr lang="en-US" sz="1250" dirty="0"/>
          </a:p>
        </p:txBody>
      </p:sp>
      <p:sp>
        <p:nvSpPr>
          <p:cNvPr id="36" name="Shape 34"/>
          <p:cNvSpPr/>
          <p:nvPr/>
        </p:nvSpPr>
        <p:spPr>
          <a:xfrm>
            <a:off x="6519672" y="5202936"/>
            <a:ext cx="274320" cy="274320"/>
          </a:xfrm>
          <a:prstGeom prst="ellipse">
            <a:avLst/>
          </a:prstGeom>
          <a:solidFill>
            <a:srgbClr val="C0392B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37" name="Text 35"/>
          <p:cNvSpPr/>
          <p:nvPr/>
        </p:nvSpPr>
        <p:spPr>
          <a:xfrm>
            <a:off x="6519672" y="520293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6912864" y="5157216"/>
            <a:ext cx="4526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Delete or alter the audit trail</a:t>
            </a:r>
            <a:endParaRPr lang="en-US" sz="1250" dirty="0"/>
          </a:p>
        </p:txBody>
      </p:sp>
      <p:sp>
        <p:nvSpPr>
          <p:cNvPr id="39" name="Text 37"/>
          <p:cNvSpPr/>
          <p:nvPr/>
        </p:nvSpPr>
        <p:spPr>
          <a:xfrm>
            <a:off x="548640" y="645566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Governed AI for Financial Aid · on Amazon Bedrock AgentCore</a:t>
            </a:r>
            <a:endParaRPr lang="en-US" sz="800" dirty="0"/>
          </a:p>
        </p:txBody>
      </p:sp>
      <p:sp>
        <p:nvSpPr>
          <p:cNvPr id="40" name="Text 38"/>
          <p:cNvSpPr/>
          <p:nvPr/>
        </p:nvSpPr>
        <p:spPr>
          <a:xfrm>
            <a:off x="11338560" y="641908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5603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FITS YOUR WORKFLOW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Agent-assisted awarding, aid-officer-in-command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66928" y="1874520"/>
            <a:ext cx="1975104" cy="1737360"/>
          </a:xfrm>
          <a:prstGeom prst="roundRect">
            <a:avLst>
              <a:gd name="adj" fmla="val 5263"/>
            </a:avLst>
          </a:prstGeom>
          <a:solidFill>
            <a:srgbClr val="1C7293"/>
          </a:solidFill>
          <a:ln/>
          <a:effectLst>
            <a:outerShdw sx="100000" sy="100000" kx="0" ky="0" algn="bl" rotWithShape="0" blurRad="76200" dist="25400" dir="5400000">
              <a:srgbClr val="0A1F33">
                <a:alpha val="16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58368" y="2075688"/>
            <a:ext cx="17922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658368" y="2441448"/>
            <a:ext cx="17922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Intake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676656" y="2898648"/>
            <a:ext cx="17556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FAFSA/ISIR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2487168" y="1874520"/>
            <a:ext cx="3657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6B7A8A"/>
                </a:solidFill>
              </a:rPr>
              <a:t>›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2798064" y="1874520"/>
            <a:ext cx="1975104" cy="1737360"/>
          </a:xfrm>
          <a:prstGeom prst="roundRect">
            <a:avLst>
              <a:gd name="adj" fmla="val 5263"/>
            </a:avLst>
          </a:prstGeom>
          <a:solidFill>
            <a:srgbClr val="1C7293"/>
          </a:solidFill>
          <a:ln/>
          <a:effectLst>
            <a:outerShdw sx="100000" sy="100000" kx="0" ky="0" algn="bl" rotWithShape="0" blurRad="76200" dist="25400" dir="5400000">
              <a:srgbClr val="0A1F33">
                <a:alpha val="16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2889504" y="2075688"/>
            <a:ext cx="17922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2889504" y="2441448"/>
            <a:ext cx="17922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De-identify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2907792" y="2898648"/>
            <a:ext cx="17556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PII (fail-closed)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4718304" y="1874520"/>
            <a:ext cx="3657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6B7A8A"/>
                </a:solidFill>
              </a:rPr>
              <a:t>›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5029200" y="1874520"/>
            <a:ext cx="1975104" cy="1737360"/>
          </a:xfrm>
          <a:prstGeom prst="roundRect">
            <a:avLst>
              <a:gd name="adj" fmla="val 5263"/>
            </a:avLst>
          </a:prstGeom>
          <a:solidFill>
            <a:srgbClr val="1C7293"/>
          </a:solidFill>
          <a:ln/>
          <a:effectLst>
            <a:outerShdw sx="100000" sy="100000" kx="0" ky="0" algn="bl" rotWithShape="0" blurRad="76200" dist="25400" dir="5400000">
              <a:srgbClr val="0A1F33">
                <a:alpha val="16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5120640" y="2075688"/>
            <a:ext cx="17922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5120640" y="2441448"/>
            <a:ext cx="17922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Assess &amp; draft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5138928" y="2898648"/>
            <a:ext cx="17556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Pell/SAP + notice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6949440" y="1874520"/>
            <a:ext cx="3657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6B7A8A"/>
                </a:solidFill>
              </a:rPr>
              <a:t>›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7260336" y="1874520"/>
            <a:ext cx="1975104" cy="1737360"/>
          </a:xfrm>
          <a:prstGeom prst="roundRect">
            <a:avLst>
              <a:gd name="adj" fmla="val 5263"/>
            </a:avLst>
          </a:prstGeom>
          <a:solidFill>
            <a:srgbClr val="E8A13A"/>
          </a:solidFill>
          <a:ln/>
          <a:effectLst>
            <a:outerShdw sx="100000" sy="100000" kx="0" ky="0" algn="bl" rotWithShape="0" blurRad="76200" dist="25400" dir="5400000">
              <a:srgbClr val="0A1F33">
                <a:alpha val="16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7351776" y="2075688"/>
            <a:ext cx="17922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AID OFFICER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7351776" y="2441448"/>
            <a:ext cx="17922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Review &amp;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7370064" y="2898648"/>
            <a:ext cx="17556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 off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9180576" y="1874520"/>
            <a:ext cx="3657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6B7A8A"/>
                </a:solidFill>
              </a:rPr>
              <a:t>›</a:t>
            </a:r>
            <a:endParaRPr lang="en-US" sz="2000" dirty="0"/>
          </a:p>
        </p:txBody>
      </p:sp>
      <p:sp>
        <p:nvSpPr>
          <p:cNvPr id="24" name="Shape 22"/>
          <p:cNvSpPr/>
          <p:nvPr/>
        </p:nvSpPr>
        <p:spPr>
          <a:xfrm>
            <a:off x="9491472" y="1874520"/>
            <a:ext cx="1975104" cy="1737360"/>
          </a:xfrm>
          <a:prstGeom prst="roundRect">
            <a:avLst>
              <a:gd name="adj" fmla="val 5263"/>
            </a:avLst>
          </a:prstGeom>
          <a:solidFill>
            <a:srgbClr val="0E2A47"/>
          </a:solidFill>
          <a:ln/>
          <a:effectLst>
            <a:outerShdw sx="100000" sy="100000" kx="0" ky="0" algn="bl" rotWithShape="0" blurRad="76200" dist="25400" dir="5400000">
              <a:srgbClr val="0A1F33">
                <a:alpha val="16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9582912" y="2075688"/>
            <a:ext cx="17922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APPROVAL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9582912" y="2441448"/>
            <a:ext cx="17922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Commit</a:t>
            </a:r>
            <a:endParaRPr lang="en-US" sz="1700" dirty="0"/>
          </a:p>
        </p:txBody>
      </p:sp>
      <p:sp>
        <p:nvSpPr>
          <p:cNvPr id="27" name="Text 25"/>
          <p:cNvSpPr/>
          <p:nvPr/>
        </p:nvSpPr>
        <p:spPr>
          <a:xfrm>
            <a:off x="9601200" y="2898648"/>
            <a:ext cx="17556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award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566928" y="3977640"/>
            <a:ext cx="11064240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868680" y="4224528"/>
            <a:ext cx="10424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4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agent action passes an access-control check before it runs, and the two consequential steps — assessing or drafting on un-masked data, and committing the award — are impossible for the agent to reach on its own.</a:t>
            </a:r>
            <a:endParaRPr lang="en-US" sz="1450" dirty="0"/>
          </a:p>
        </p:txBody>
      </p:sp>
      <p:sp>
        <p:nvSpPr>
          <p:cNvPr id="30" name="Text 28"/>
          <p:cNvSpPr/>
          <p:nvPr/>
        </p:nvSpPr>
        <p:spPr>
          <a:xfrm>
            <a:off x="868680" y="502920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aid officers stay in command — </a:t>
            </a:r>
            <a:pPr indent="0" marL="0">
              <a:buNone/>
            </a:pPr>
            <a:r>
              <a:rPr lang="en-US" sz="1400" i="1" dirty="0">
                <a:solidFill>
                  <a:srgbClr val="34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removes the assembly toil, not the judgment.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548640" y="645566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Governed AI for Financial Aid · on Amazon Bedrock AgentCore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11338560" y="641908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5603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YOUR COMPLIANCE &amp; PRIVACY TEAMS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controls that let you say yes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66928" y="1417320"/>
            <a:ext cx="11064240" cy="694944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41248" y="1527048"/>
            <a:ext cx="475488" cy="47548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41248" y="15270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527048" y="1490472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45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Fail-closed PII de-identification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5961888" y="1490472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4453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application is de-identified before the model or the audit sees it. No masking → no assessment, no draft.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10213848" y="1581912"/>
            <a:ext cx="1280160" cy="402336"/>
          </a:xfrm>
          <a:prstGeom prst="roundRect">
            <a:avLst>
              <a:gd name="adj" fmla="val 22727"/>
            </a:avLst>
          </a:prstGeom>
          <a:solidFill>
            <a:srgbClr val="EAF1F4"/>
          </a:solidFill>
          <a:ln/>
        </p:spPr>
      </p:sp>
      <p:sp>
        <p:nvSpPr>
          <p:cNvPr id="10" name="Text 8"/>
          <p:cNvSpPr/>
          <p:nvPr/>
        </p:nvSpPr>
        <p:spPr>
          <a:xfrm>
            <a:off x="10213848" y="1581912"/>
            <a:ext cx="1280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FERPA · GLBA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66928" y="2240280"/>
            <a:ext cx="11064240" cy="694944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841248" y="2350008"/>
            <a:ext cx="475488" cy="47548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841248" y="235000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527048" y="2313432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45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Immutable audit trail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5961888" y="2313432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4453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Append-only, write-once evidence of every decision and state change — the writer can't alter it.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10213848" y="2404872"/>
            <a:ext cx="1280160" cy="402336"/>
          </a:xfrm>
          <a:prstGeom prst="roundRect">
            <a:avLst>
              <a:gd name="adj" fmla="val 22727"/>
            </a:avLst>
          </a:prstGeom>
          <a:solidFill>
            <a:srgbClr val="EAF1F4"/>
          </a:solidFill>
          <a:ln/>
        </p:spPr>
      </p:sp>
      <p:sp>
        <p:nvSpPr>
          <p:cNvPr id="17" name="Text 15"/>
          <p:cNvSpPr/>
          <p:nvPr/>
        </p:nvSpPr>
        <p:spPr>
          <a:xfrm>
            <a:off x="10213848" y="2404872"/>
            <a:ext cx="1280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 review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66928" y="3063240"/>
            <a:ext cx="11064240" cy="694944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841248" y="3172968"/>
            <a:ext cx="475488" cy="47548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841248" y="317296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1527048" y="3136392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45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sign-off (separation of duties)</a:t>
            </a:r>
            <a:endParaRPr lang="en-US" sz="1450" dirty="0"/>
          </a:p>
        </p:txBody>
      </p:sp>
      <p:sp>
        <p:nvSpPr>
          <p:cNvPr id="22" name="Text 20"/>
          <p:cNvSpPr/>
          <p:nvPr/>
        </p:nvSpPr>
        <p:spPr>
          <a:xfrm>
            <a:off x="5961888" y="3136392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4453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different qualified aid officer approves with a bound, single-use token before any award is committed.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10213848" y="3227832"/>
            <a:ext cx="1280160" cy="402336"/>
          </a:xfrm>
          <a:prstGeom prst="roundRect">
            <a:avLst>
              <a:gd name="adj" fmla="val 22727"/>
            </a:avLst>
          </a:prstGeom>
          <a:solidFill>
            <a:srgbClr val="EAF1F4"/>
          </a:solidFill>
          <a:ln/>
        </p:spPr>
      </p:sp>
      <p:sp>
        <p:nvSpPr>
          <p:cNvPr id="24" name="Text 22"/>
          <p:cNvSpPr/>
          <p:nvPr/>
        </p:nvSpPr>
        <p:spPr>
          <a:xfrm>
            <a:off x="10213848" y="3227832"/>
            <a:ext cx="1280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Title IV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66928" y="3886200"/>
            <a:ext cx="11064240" cy="694944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841248" y="3995928"/>
            <a:ext cx="475488" cy="475488"/>
          </a:xfrm>
          <a:prstGeom prst="ellipse">
            <a:avLst/>
          </a:prstGeom>
          <a:solidFill>
            <a:srgbClr val="1C7293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841248" y="399592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1527048" y="3959352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45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Deny-by-default authorization</a:t>
            </a:r>
            <a:endParaRPr lang="en-US" sz="1450" dirty="0"/>
          </a:p>
        </p:txBody>
      </p:sp>
      <p:sp>
        <p:nvSpPr>
          <p:cNvPr id="29" name="Text 27"/>
          <p:cNvSpPr/>
          <p:nvPr/>
        </p:nvSpPr>
        <p:spPr>
          <a:xfrm>
            <a:off x="5961888" y="3959352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4453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tool call is checked against policy; nothing runs unless explicitly permitted.</a:t>
            </a:r>
            <a:endParaRPr lang="en-US" sz="1250" dirty="0"/>
          </a:p>
        </p:txBody>
      </p:sp>
      <p:sp>
        <p:nvSpPr>
          <p:cNvPr id="30" name="Shape 28"/>
          <p:cNvSpPr/>
          <p:nvPr/>
        </p:nvSpPr>
        <p:spPr>
          <a:xfrm>
            <a:off x="10213848" y="4050792"/>
            <a:ext cx="1280160" cy="402336"/>
          </a:xfrm>
          <a:prstGeom prst="roundRect">
            <a:avLst>
              <a:gd name="adj" fmla="val 22727"/>
            </a:avLst>
          </a:prstGeom>
          <a:solidFill>
            <a:srgbClr val="EAF1F4"/>
          </a:solidFill>
          <a:ln/>
        </p:spPr>
      </p:sp>
      <p:sp>
        <p:nvSpPr>
          <p:cNvPr id="31" name="Text 29"/>
          <p:cNvSpPr/>
          <p:nvPr/>
        </p:nvSpPr>
        <p:spPr>
          <a:xfrm>
            <a:off x="10213848" y="4050792"/>
            <a:ext cx="1280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GLBA Safeguards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566928" y="4709160"/>
            <a:ext cx="11064240" cy="694944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841248" y="4818888"/>
            <a:ext cx="475488" cy="475488"/>
          </a:xfrm>
          <a:prstGeom prst="ellipse">
            <a:avLst/>
          </a:prstGeom>
          <a:solidFill>
            <a:srgbClr val="1C7293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34" name="Text 32"/>
          <p:cNvSpPr/>
          <p:nvPr/>
        </p:nvSpPr>
        <p:spPr>
          <a:xfrm>
            <a:off x="841248" y="481888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35" name="Text 33"/>
          <p:cNvSpPr/>
          <p:nvPr/>
        </p:nvSpPr>
        <p:spPr>
          <a:xfrm>
            <a:off x="1527048" y="4782312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45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 identity</a:t>
            </a:r>
            <a:endParaRPr lang="en-US" sz="1450" dirty="0"/>
          </a:p>
        </p:txBody>
      </p:sp>
      <p:sp>
        <p:nvSpPr>
          <p:cNvPr id="36" name="Text 34"/>
          <p:cNvSpPr/>
          <p:nvPr/>
        </p:nvSpPr>
        <p:spPr>
          <a:xfrm>
            <a:off x="5961888" y="4782312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4453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Actions are bound to an authenticated aid officer via your identity provider.</a:t>
            </a:r>
            <a:endParaRPr lang="en-US" sz="1250" dirty="0"/>
          </a:p>
        </p:txBody>
      </p:sp>
      <p:sp>
        <p:nvSpPr>
          <p:cNvPr id="37" name="Shape 35"/>
          <p:cNvSpPr/>
          <p:nvPr/>
        </p:nvSpPr>
        <p:spPr>
          <a:xfrm>
            <a:off x="10213848" y="4873752"/>
            <a:ext cx="1280160" cy="402336"/>
          </a:xfrm>
          <a:prstGeom prst="roundRect">
            <a:avLst>
              <a:gd name="adj" fmla="val 22727"/>
            </a:avLst>
          </a:prstGeom>
          <a:solidFill>
            <a:srgbClr val="EAF1F4"/>
          </a:solidFill>
          <a:ln/>
        </p:spPr>
      </p:sp>
      <p:sp>
        <p:nvSpPr>
          <p:cNvPr id="38" name="Text 36"/>
          <p:cNvSpPr/>
          <p:nvPr/>
        </p:nvSpPr>
        <p:spPr>
          <a:xfrm>
            <a:off x="10213848" y="4873752"/>
            <a:ext cx="1280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 control</a:t>
            </a:r>
            <a:endParaRPr lang="en-US" sz="1050" dirty="0"/>
          </a:p>
        </p:txBody>
      </p:sp>
      <p:sp>
        <p:nvSpPr>
          <p:cNvPr id="39" name="Text 37"/>
          <p:cNvSpPr/>
          <p:nvPr/>
        </p:nvSpPr>
        <p:spPr>
          <a:xfrm>
            <a:off x="548640" y="645566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Governed AI for Financial Aid · on Amazon Bedrock AgentCore</a:t>
            </a:r>
            <a:endParaRPr lang="en-US" sz="800" dirty="0"/>
          </a:p>
        </p:txBody>
      </p:sp>
      <p:sp>
        <p:nvSpPr>
          <p:cNvPr id="40" name="Text 38"/>
          <p:cNvSpPr/>
          <p:nvPr/>
        </p:nvSpPr>
        <p:spPr>
          <a:xfrm>
            <a:off x="11338560" y="641908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E2A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5603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IT RUNS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Native on Amazon Bedrock AgentCore — inside your AWS boundary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566928" y="1325880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14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governance isn't a bolt-on. Identity, deny-by-default authorization (Cedar), governed tools, and the agent runtime are native AWS services — deployed in your account, on your data, under your controls.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566928" y="2331720"/>
            <a:ext cx="5440680" cy="1600200"/>
          </a:xfrm>
          <a:prstGeom prst="roundRect">
            <a:avLst>
              <a:gd name="adj" fmla="val 5714"/>
            </a:avLst>
          </a:prstGeom>
          <a:solidFill>
            <a:srgbClr val="143A5E"/>
          </a:solidFill>
          <a:ln/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59536" y="2642616"/>
            <a:ext cx="512064" cy="512064"/>
          </a:xfrm>
          <a:prstGeom prst="ellipse">
            <a:avLst/>
          </a:prstGeom>
          <a:solidFill>
            <a:srgbClr val="1C7293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859536" y="264261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527048" y="2606040"/>
            <a:ext cx="4343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 your account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86968" y="3227832"/>
            <a:ext cx="48463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Deploys via infrastructure-as-code into your AWS environment — your VPC, your keys, your logs.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227064" y="2331720"/>
            <a:ext cx="5440680" cy="1600200"/>
          </a:xfrm>
          <a:prstGeom prst="roundRect">
            <a:avLst>
              <a:gd name="adj" fmla="val 5714"/>
            </a:avLst>
          </a:prstGeom>
          <a:solidFill>
            <a:srgbClr val="143A5E"/>
          </a:solidFill>
          <a:ln/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519672" y="2642616"/>
            <a:ext cx="512064" cy="512064"/>
          </a:xfrm>
          <a:prstGeom prst="ellipse">
            <a:avLst/>
          </a:prstGeom>
          <a:solidFill>
            <a:srgbClr val="1C7293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519672" y="264261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7187184" y="2606040"/>
            <a:ext cx="4343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Your data stays yours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6547104" y="3227832"/>
            <a:ext cx="48463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PII/education records are masked before any model call; nothing leaves your boundary for third-party processing.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66928" y="4114800"/>
            <a:ext cx="5440680" cy="1600200"/>
          </a:xfrm>
          <a:prstGeom prst="roundRect">
            <a:avLst>
              <a:gd name="adj" fmla="val 5714"/>
            </a:avLst>
          </a:prstGeom>
          <a:solidFill>
            <a:srgbClr val="143A5E"/>
          </a:solidFill>
          <a:ln/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859536" y="4425696"/>
            <a:ext cx="512064" cy="512064"/>
          </a:xfrm>
          <a:prstGeom prst="ellipse">
            <a:avLst/>
          </a:prstGeom>
          <a:solidFill>
            <a:srgbClr val="1C7293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859536" y="442569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527048" y="4389120"/>
            <a:ext cx="4343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Your identity provider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886968" y="5010912"/>
            <a:ext cx="48463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Federate your existing IdP; actions are bound to your aid officers and your roles.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6227064" y="4114800"/>
            <a:ext cx="5440680" cy="1600200"/>
          </a:xfrm>
          <a:prstGeom prst="roundRect">
            <a:avLst>
              <a:gd name="adj" fmla="val 5714"/>
            </a:avLst>
          </a:prstGeom>
          <a:solidFill>
            <a:srgbClr val="143A5E"/>
          </a:solidFill>
          <a:ln/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6519672" y="4425696"/>
            <a:ext cx="512064" cy="512064"/>
          </a:xfrm>
          <a:prstGeom prst="ellipse">
            <a:avLst/>
          </a:prstGeom>
          <a:solidFill>
            <a:srgbClr val="1C7293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6519672" y="442569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7187184" y="4389120"/>
            <a:ext cx="4343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Reproducible &amp; reversible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6547104" y="5010912"/>
            <a:ext cx="48463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One-command deploy, one-command teardown with zero residual — easy to evaluate, easy to remove.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548640" y="645566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Governed AI for Financial Aid · on Amazon Bedrock AgentCore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11338560" y="641908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5603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IT STANDS TODAY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Proven end-to-end on AWS — not a slideware demo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66928" y="1417320"/>
            <a:ext cx="3566160" cy="123444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66928" y="1527048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21/21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658368" y="2194560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4453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governance checks pass, live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315968" y="1417320"/>
            <a:ext cx="3566160" cy="123444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315968" y="1527048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Pell+SAP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4407408" y="2194560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4453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computed deterministically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8065008" y="1417320"/>
            <a:ext cx="3566160" cy="123444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8065008" y="1527048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E8A1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8156448" y="2194560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4453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awards gated by an aid officer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66928" y="2926080"/>
            <a:ext cx="11064240" cy="274320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868680" y="3127248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Demonstrated live, in enforcement mode: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896112" y="3611880"/>
            <a:ext cx="292608" cy="29260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896112" y="36118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1298448" y="3538728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real, de-identified award/determination notice drafted by the model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896112" y="4178808"/>
            <a:ext cx="292608" cy="29260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896112" y="417880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1298448" y="4105656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PII (name, SSN, address) removed before the model — fail-closed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896112" y="4745736"/>
            <a:ext cx="292608" cy="29260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896112" y="47457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1298448" y="4672584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Un-masked assessment and drafting refused by policy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6309360" y="3611880"/>
            <a:ext cx="292608" cy="29260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6309360" y="36118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6711696" y="3538728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blocked from committing an award — every time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6309360" y="4178808"/>
            <a:ext cx="292608" cy="29260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6309360" y="417880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6711696" y="4105656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different aid officer required to approve; approvals are single-use</a:t>
            </a:r>
            <a:endParaRPr lang="en-US" sz="1250" dirty="0"/>
          </a:p>
        </p:txBody>
      </p:sp>
      <p:sp>
        <p:nvSpPr>
          <p:cNvPr id="30" name="Shape 28"/>
          <p:cNvSpPr/>
          <p:nvPr/>
        </p:nvSpPr>
        <p:spPr>
          <a:xfrm>
            <a:off x="6309360" y="4745736"/>
            <a:ext cx="292608" cy="29260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6309360" y="47457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6711696" y="4672584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Tamper-proof audit written for each step; duplicates rejected</a:t>
            </a:r>
            <a:endParaRPr lang="en-US" sz="1250" dirty="0"/>
          </a:p>
        </p:txBody>
      </p:sp>
      <p:sp>
        <p:nvSpPr>
          <p:cNvPr id="33" name="Text 31"/>
          <p:cNvSpPr/>
          <p:nvPr/>
        </p:nvSpPr>
        <p:spPr>
          <a:xfrm>
            <a:off x="548640" y="645566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Governed AI for Financial Aid · on Amazon Bedrock AgentCore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1338560" y="641908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5603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CLEAR DIVISION OF RESPONSIBILITY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we bring, what stays yours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66928" y="1508760"/>
            <a:ext cx="5440680" cy="3977640"/>
          </a:xfrm>
          <a:prstGeom prst="roundRect">
            <a:avLst>
              <a:gd name="adj" fmla="val 2299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68680" y="173736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ACCELERATOR PROVIDES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896112" y="2286000"/>
            <a:ext cx="292608" cy="29260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896112" y="228600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298448" y="2240280"/>
            <a:ext cx="4526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governed agent + policies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896112" y="2788920"/>
            <a:ext cx="292608" cy="29260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96112" y="278892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298448" y="2743200"/>
            <a:ext cx="4526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six intake tools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896112" y="3291840"/>
            <a:ext cx="292608" cy="29260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896112" y="32918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1298448" y="3246120"/>
            <a:ext cx="4526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Fail-closed PII masking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896112" y="3794760"/>
            <a:ext cx="292608" cy="29260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896112" y="37947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1298448" y="3749040"/>
            <a:ext cx="4526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deterministic Pell + SAP rules engine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896112" y="4297680"/>
            <a:ext cx="292608" cy="29260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896112" y="42976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1298448" y="4251960"/>
            <a:ext cx="4526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human sign-off workflow + audit</a:t>
            </a:r>
            <a:endParaRPr lang="en-US" sz="1350" dirty="0"/>
          </a:p>
        </p:txBody>
      </p:sp>
      <p:sp>
        <p:nvSpPr>
          <p:cNvPr id="21" name="Shape 19"/>
          <p:cNvSpPr/>
          <p:nvPr/>
        </p:nvSpPr>
        <p:spPr>
          <a:xfrm>
            <a:off x="896112" y="4800600"/>
            <a:ext cx="292608" cy="29260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896112" y="480060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1298448" y="4754880"/>
            <a:ext cx="4526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Infrastructure-as-code + documentation</a:t>
            </a:r>
            <a:endParaRPr lang="en-US" sz="1350" dirty="0"/>
          </a:p>
        </p:txBody>
      </p:sp>
      <p:sp>
        <p:nvSpPr>
          <p:cNvPr id="24" name="Shape 22"/>
          <p:cNvSpPr/>
          <p:nvPr/>
        </p:nvSpPr>
        <p:spPr>
          <a:xfrm>
            <a:off x="6199632" y="1508760"/>
            <a:ext cx="5440680" cy="3977640"/>
          </a:xfrm>
          <a:prstGeom prst="roundRect">
            <a:avLst>
              <a:gd name="adj" fmla="val 2299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6501384" y="173736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E8A1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CONTROL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6528816" y="2286000"/>
            <a:ext cx="292608" cy="292608"/>
          </a:xfrm>
          <a:prstGeom prst="ellipse">
            <a:avLst/>
          </a:prstGeom>
          <a:solidFill>
            <a:srgbClr val="E8A13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6528816" y="228600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6931152" y="2231136"/>
            <a:ext cx="4572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identity provider + aid-officer roles</a:t>
            </a:r>
            <a:endParaRPr lang="en-US" sz="1350" dirty="0"/>
          </a:p>
        </p:txBody>
      </p:sp>
      <p:sp>
        <p:nvSpPr>
          <p:cNvPr id="29" name="Shape 27"/>
          <p:cNvSpPr/>
          <p:nvPr/>
        </p:nvSpPr>
        <p:spPr>
          <a:xfrm>
            <a:off x="6528816" y="2871216"/>
            <a:ext cx="292608" cy="292608"/>
          </a:xfrm>
          <a:prstGeom prst="ellipse">
            <a:avLst/>
          </a:prstGeom>
          <a:solidFill>
            <a:srgbClr val="E8A13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6528816" y="287121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6931152" y="2816352"/>
            <a:ext cx="4572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Connection to your SIS / COD</a:t>
            </a:r>
            <a:endParaRPr lang="en-US" sz="1350" dirty="0"/>
          </a:p>
        </p:txBody>
      </p:sp>
      <p:sp>
        <p:nvSpPr>
          <p:cNvPr id="32" name="Shape 30"/>
          <p:cNvSpPr/>
          <p:nvPr/>
        </p:nvSpPr>
        <p:spPr>
          <a:xfrm>
            <a:off x="6528816" y="3456432"/>
            <a:ext cx="292608" cy="292608"/>
          </a:xfrm>
          <a:prstGeom prst="ellipse">
            <a:avLst/>
          </a:prstGeom>
          <a:solidFill>
            <a:srgbClr val="E8A13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33" name="Text 31"/>
          <p:cNvSpPr/>
          <p:nvPr/>
        </p:nvSpPr>
        <p:spPr>
          <a:xfrm>
            <a:off x="6528816" y="345643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6931152" y="3401568"/>
            <a:ext cx="4572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authoritative award rules (compliance review)</a:t>
            </a:r>
            <a:endParaRPr lang="en-US" sz="1350" dirty="0"/>
          </a:p>
        </p:txBody>
      </p:sp>
      <p:sp>
        <p:nvSpPr>
          <p:cNvPr id="35" name="Shape 33"/>
          <p:cNvSpPr/>
          <p:nvPr/>
        </p:nvSpPr>
        <p:spPr>
          <a:xfrm>
            <a:off x="6528816" y="4041648"/>
            <a:ext cx="292608" cy="292608"/>
          </a:xfrm>
          <a:prstGeom prst="ellipse">
            <a:avLst/>
          </a:prstGeom>
          <a:solidFill>
            <a:srgbClr val="E8A13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6528816" y="404164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6931152" y="3986784"/>
            <a:ext cx="4572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Notice language, SAP appeal rights, appeal process</a:t>
            </a:r>
            <a:endParaRPr lang="en-US" sz="1350" dirty="0"/>
          </a:p>
        </p:txBody>
      </p:sp>
      <p:sp>
        <p:nvSpPr>
          <p:cNvPr id="38" name="Shape 36"/>
          <p:cNvSpPr/>
          <p:nvPr/>
        </p:nvSpPr>
        <p:spPr>
          <a:xfrm>
            <a:off x="6528816" y="4626864"/>
            <a:ext cx="292608" cy="292608"/>
          </a:xfrm>
          <a:prstGeom prst="ellipse">
            <a:avLst/>
          </a:prstGeom>
          <a:solidFill>
            <a:srgbClr val="E8A13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39" name="Text 37"/>
          <p:cNvSpPr/>
          <p:nvPr/>
        </p:nvSpPr>
        <p:spPr>
          <a:xfrm>
            <a:off x="6528816" y="462686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6931152" y="4572000"/>
            <a:ext cx="4572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 + authorization to operate</a:t>
            </a:r>
            <a:endParaRPr lang="en-US" sz="1350" dirty="0"/>
          </a:p>
        </p:txBody>
      </p:sp>
      <p:sp>
        <p:nvSpPr>
          <p:cNvPr id="41" name="Shape 39"/>
          <p:cNvSpPr/>
          <p:nvPr/>
        </p:nvSpPr>
        <p:spPr>
          <a:xfrm>
            <a:off x="566928" y="5669280"/>
            <a:ext cx="11064240" cy="502920"/>
          </a:xfrm>
          <a:prstGeom prst="roundRect">
            <a:avLst>
              <a:gd name="adj" fmla="val 16364"/>
            </a:avLst>
          </a:prstGeom>
          <a:solidFill>
            <a:srgbClr val="0E2A47"/>
          </a:solidFill>
          <a:ln/>
        </p:spPr>
      </p:sp>
      <p:sp>
        <p:nvSpPr>
          <p:cNvPr id="42" name="Text 40"/>
          <p:cNvSpPr/>
          <p:nvPr/>
        </p:nvSpPr>
        <p:spPr>
          <a:xfrm>
            <a:off x="566928" y="566928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accelerator, not a finished product — the award rules, validation, and certification for your intended use stay with you.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548640" y="645566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Governed AI for Financial Aid · on Amazon Bedrock AgentCore</a:t>
            </a:r>
            <a:endParaRPr lang="en-US" sz="800" dirty="0"/>
          </a:p>
        </p:txBody>
      </p:sp>
      <p:sp>
        <p:nvSpPr>
          <p:cNvPr id="44" name="Text 42"/>
          <p:cNvSpPr/>
          <p:nvPr/>
        </p:nvSpPr>
        <p:spPr>
          <a:xfrm>
            <a:off x="11338560" y="641908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5603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CHANGES FOR YOUR TEAM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Aid officers spend their time on judgment, not assembly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66928" y="1508760"/>
            <a:ext cx="5440680" cy="1874520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77824" y="1837944"/>
            <a:ext cx="548640" cy="548640"/>
          </a:xfrm>
          <a:prstGeom prst="ellipse">
            <a:avLst/>
          </a:prstGeom>
          <a:solidFill>
            <a:srgbClr val="1C7293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77824" y="183794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591056" y="1819656"/>
            <a:ext cx="4251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2A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Faster first drafts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77824" y="2532888"/>
            <a:ext cx="48371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60" dirty="0">
                <a:solidFill>
                  <a:srgbClr val="34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produces a de-identified determination and a drafted notice for review in minutes — aid officers refine instead of starting from a blank page.</a:t>
            </a:r>
            <a:endParaRPr lang="en-US" sz="1260" dirty="0"/>
          </a:p>
        </p:txBody>
      </p:sp>
      <p:sp>
        <p:nvSpPr>
          <p:cNvPr id="9" name="Shape 7"/>
          <p:cNvSpPr/>
          <p:nvPr/>
        </p:nvSpPr>
        <p:spPr>
          <a:xfrm>
            <a:off x="6227064" y="1508760"/>
            <a:ext cx="5440680" cy="1874520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537960" y="1837944"/>
            <a:ext cx="548640" cy="548640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537960" y="183794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251192" y="1819656"/>
            <a:ext cx="4251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2A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More consistent awarding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6537960" y="2532888"/>
            <a:ext cx="48371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60" dirty="0">
                <a:solidFill>
                  <a:srgbClr val="34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application runs the same governed path — the same masking, the same rules engine, the same audit — reducing variability.</a:t>
            </a:r>
            <a:endParaRPr lang="en-US" sz="1260" dirty="0"/>
          </a:p>
        </p:txBody>
      </p:sp>
      <p:sp>
        <p:nvSpPr>
          <p:cNvPr id="14" name="Shape 12"/>
          <p:cNvSpPr/>
          <p:nvPr/>
        </p:nvSpPr>
        <p:spPr>
          <a:xfrm>
            <a:off x="566928" y="3602736"/>
            <a:ext cx="5440680" cy="1874520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77824" y="3931920"/>
            <a:ext cx="548640" cy="548640"/>
          </a:xfrm>
          <a:prstGeom prst="ellipse">
            <a:avLst/>
          </a:prstGeom>
          <a:solidFill>
            <a:srgbClr val="E8A13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877824" y="39319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591056" y="3913632"/>
            <a:ext cx="4251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2A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Audit-ready by construction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877824" y="4626864"/>
            <a:ext cx="48371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60" dirty="0">
                <a:solidFill>
                  <a:srgbClr val="34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 is captured automatically as the work happens, ready for a program review — not reconstructed later.</a:t>
            </a:r>
            <a:endParaRPr lang="en-US" sz="1260" dirty="0"/>
          </a:p>
        </p:txBody>
      </p:sp>
      <p:sp>
        <p:nvSpPr>
          <p:cNvPr id="19" name="Shape 17"/>
          <p:cNvSpPr/>
          <p:nvPr/>
        </p:nvSpPr>
        <p:spPr>
          <a:xfrm>
            <a:off x="6227064" y="3602736"/>
            <a:ext cx="5440680" cy="1874520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537960" y="3931920"/>
            <a:ext cx="548640" cy="548640"/>
          </a:xfrm>
          <a:prstGeom prst="ellipse">
            <a:avLst/>
          </a:prstGeom>
          <a:solidFill>
            <a:srgbClr val="0E2A47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6537960" y="39319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7251192" y="3913632"/>
            <a:ext cx="4251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2A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Aid officers stay in command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6537960" y="4626864"/>
            <a:ext cx="48371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60" dirty="0">
                <a:solidFill>
                  <a:srgbClr val="34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determination and the commit remain human — the agent never makes the call.</a:t>
            </a:r>
            <a:endParaRPr lang="en-US" sz="1260" dirty="0"/>
          </a:p>
        </p:txBody>
      </p:sp>
      <p:sp>
        <p:nvSpPr>
          <p:cNvPr id="24" name="Text 22"/>
          <p:cNvSpPr/>
          <p:nvPr/>
        </p:nvSpPr>
        <p:spPr>
          <a:xfrm>
            <a:off x="548640" y="645566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Governed AI for Financial Aid · on Amazon Bedrock AgentCore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11338560" y="641908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E2A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326880" y="4023360"/>
            <a:ext cx="5120640" cy="5120640"/>
          </a:xfrm>
          <a:prstGeom prst="ellipse">
            <a:avLst/>
          </a:prstGeom>
          <a:solidFill>
            <a:srgbClr val="143A5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5603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WE'D START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41148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scoped pilot on synthetic data — in your account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32588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14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Low-risk, boundary-explicit, and reversible. We stand the pattern up on synthetic FAFSAs in your AWS environment, prove the controls with your compliance and privacy teams, then scope what a validated production deployment would take.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566928" y="2423160"/>
            <a:ext cx="3529584" cy="2331720"/>
          </a:xfrm>
          <a:prstGeom prst="roundRect">
            <a:avLst>
              <a:gd name="adj" fmla="val 3922"/>
            </a:avLst>
          </a:prstGeom>
          <a:solidFill>
            <a:srgbClr val="143A5E"/>
          </a:solidFill>
          <a:ln w="12700">
            <a:solidFill>
              <a:srgbClr val="1C7293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859536" y="2697480"/>
            <a:ext cx="548640" cy="548640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59536" y="26974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572768" y="2715768"/>
            <a:ext cx="23865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Workshop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886968" y="3383280"/>
            <a:ext cx="288950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3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Walk your financial-aid, privacy, and security teams through the architecture and the live 21-check proof.</a:t>
            </a:r>
            <a:endParaRPr lang="en-US" sz="1230" dirty="0"/>
          </a:p>
        </p:txBody>
      </p:sp>
      <p:sp>
        <p:nvSpPr>
          <p:cNvPr id="11" name="Shape 9"/>
          <p:cNvSpPr/>
          <p:nvPr/>
        </p:nvSpPr>
        <p:spPr>
          <a:xfrm>
            <a:off x="886968" y="4206240"/>
            <a:ext cx="1554480" cy="347472"/>
          </a:xfrm>
          <a:prstGeom prst="roundRect">
            <a:avLst>
              <a:gd name="adj" fmla="val 50000"/>
            </a:avLst>
          </a:prstGeom>
          <a:solidFill>
            <a:srgbClr val="1C7293"/>
          </a:solidFill>
          <a:ln/>
        </p:spPr>
      </p:sp>
      <p:sp>
        <p:nvSpPr>
          <p:cNvPr id="12" name="Text 10"/>
          <p:cNvSpPr/>
          <p:nvPr/>
        </p:nvSpPr>
        <p:spPr>
          <a:xfrm>
            <a:off x="886968" y="4206240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 week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315968" y="2423160"/>
            <a:ext cx="3529584" cy="2331720"/>
          </a:xfrm>
          <a:prstGeom prst="roundRect">
            <a:avLst>
              <a:gd name="adj" fmla="val 3922"/>
            </a:avLst>
          </a:prstGeom>
          <a:solidFill>
            <a:srgbClr val="143A5E"/>
          </a:solidFill>
          <a:ln w="12700">
            <a:solidFill>
              <a:srgbClr val="1C7293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608576" y="2697480"/>
            <a:ext cx="548640" cy="548640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4608576" y="26974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5321808" y="2715768"/>
            <a:ext cx="23865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Scoped pilot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4636008" y="3383280"/>
            <a:ext cx="288950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3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 to your account on synthetic FAFSAs; run cases end-to-end through the governed workflow.</a:t>
            </a:r>
            <a:endParaRPr lang="en-US" sz="1230" dirty="0"/>
          </a:p>
        </p:txBody>
      </p:sp>
      <p:sp>
        <p:nvSpPr>
          <p:cNvPr id="18" name="Shape 16"/>
          <p:cNvSpPr/>
          <p:nvPr/>
        </p:nvSpPr>
        <p:spPr>
          <a:xfrm>
            <a:off x="4636008" y="4206240"/>
            <a:ext cx="1554480" cy="347472"/>
          </a:xfrm>
          <a:prstGeom prst="roundRect">
            <a:avLst>
              <a:gd name="adj" fmla="val 50000"/>
            </a:avLst>
          </a:prstGeom>
          <a:solidFill>
            <a:srgbClr val="1C7293"/>
          </a:solidFill>
          <a:ln/>
        </p:spPr>
      </p:sp>
      <p:sp>
        <p:nvSpPr>
          <p:cNvPr id="19" name="Text 17"/>
          <p:cNvSpPr/>
          <p:nvPr/>
        </p:nvSpPr>
        <p:spPr>
          <a:xfrm>
            <a:off x="4636008" y="4206240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4–6 weeks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8065008" y="2423160"/>
            <a:ext cx="3529584" cy="2331720"/>
          </a:xfrm>
          <a:prstGeom prst="roundRect">
            <a:avLst>
              <a:gd name="adj" fmla="val 3922"/>
            </a:avLst>
          </a:prstGeom>
          <a:solidFill>
            <a:srgbClr val="143A5E"/>
          </a:solidFill>
          <a:ln w="12700">
            <a:solidFill>
              <a:srgbClr val="1C7293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8357616" y="2697480"/>
            <a:ext cx="548640" cy="548640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8357616" y="26974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9070848" y="2715768"/>
            <a:ext cx="23865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Validation scope</a:t>
            </a:r>
            <a:endParaRPr lang="en-US" sz="1700" dirty="0"/>
          </a:p>
        </p:txBody>
      </p:sp>
      <p:sp>
        <p:nvSpPr>
          <p:cNvPr id="24" name="Text 22"/>
          <p:cNvSpPr/>
          <p:nvPr/>
        </p:nvSpPr>
        <p:spPr>
          <a:xfrm>
            <a:off x="8385048" y="3383280"/>
            <a:ext cx="288950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3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 the authoritative award rules, connectors, and authorization a production deployment would require.</a:t>
            </a:r>
            <a:endParaRPr lang="en-US" sz="1230" dirty="0"/>
          </a:p>
        </p:txBody>
      </p:sp>
      <p:sp>
        <p:nvSpPr>
          <p:cNvPr id="25" name="Shape 23"/>
          <p:cNvSpPr/>
          <p:nvPr/>
        </p:nvSpPr>
        <p:spPr>
          <a:xfrm>
            <a:off x="8385048" y="4206240"/>
            <a:ext cx="1554480" cy="347472"/>
          </a:xfrm>
          <a:prstGeom prst="roundRect">
            <a:avLst>
              <a:gd name="adj" fmla="val 50000"/>
            </a:avLst>
          </a:prstGeom>
          <a:solidFill>
            <a:srgbClr val="1C7293"/>
          </a:solidFill>
          <a:ln/>
        </p:spPr>
      </p:sp>
      <p:sp>
        <p:nvSpPr>
          <p:cNvPr id="26" name="Text 24"/>
          <p:cNvSpPr/>
          <p:nvPr/>
        </p:nvSpPr>
        <p:spPr>
          <a:xfrm>
            <a:off x="8385048" y="4206240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Joint plan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566928" y="52578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i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Governed AI you can actually put in front of a program reviewer — let's prove it on your data.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Governed AI for Financial Aid</dc:title>
  <dc:subject>PptxGenJS Presentation</dc:subject>
  <dc:creator>Financial Aid AgentCore Accelerator</dc:creator>
  <cp:lastModifiedBy>Financial Aid AgentCore Accelerator</cp:lastModifiedBy>
  <cp:revision>1</cp:revision>
  <dcterms:created xsi:type="dcterms:W3CDTF">2026-07-17T03:42:55Z</dcterms:created>
  <dcterms:modified xsi:type="dcterms:W3CDTF">2026-07-17T03:42:55Z</dcterms:modified>
</cp:coreProperties>
</file>