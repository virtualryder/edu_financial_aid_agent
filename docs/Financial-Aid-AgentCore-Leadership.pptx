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</p:sldIdLst>
  <p:notesMasterIdLst>
    <p:notesMasterId r:id="rId15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notesMaster" Target="notesMasters/notesMaster1.xml"/><Relationship Id="rId16" Type="http://schemas.openxmlformats.org/officeDocument/2006/relationships/presProps" Target="presProps.xml"/><Relationship Id="rId17" Type="http://schemas.openxmlformats.org/officeDocument/2006/relationships/viewProps" Target="viewProps.xml"/><Relationship Id="rId18" Type="http://schemas.openxmlformats.org/officeDocument/2006/relationships/theme" Target="theme/theme1.xml"/><Relationship Id="rId19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Third proof of the pattern: the same governed chassis that runs pharmacovigilance and benefits eligibility now runs Title IV financial-aid awarding, from one reusable template. AWS shipped the governance primitives; we implement the regulated pattern natively and prove it end-to-end.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Three non-negotiables that block ungoverned agents in financial aid. The rest of the deck shows how AgentCore + three last-mile controls satisfy all three.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'why now.' Previously teams hand-rolled identity, policy engines, audit. AgentCore makes those native.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Six of nine controls are native; three are the regulated 'last mile' we add. Positions the work as extending AgentCore, not competing with it.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Amber = the human step; navy = the consequential commit. The callout is the crux: an aid officer commits, the agent never self-awards.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full nine-control map — identical structure to the PV and benefits agents. That's the reusable pattern.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Steps 5 (fail-closed masking) and 6 (human gate) are the regulated controls; step 4 (Cedar deny-by-default) is the native spine.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 reproducible, one-command demo stands the stack up, proves 32 checks in ENFORCE, and tears down with zero residual. The Runtime invoke (aid officer full workflow, outsider denied) was also proven live.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Proven live: the agent runs on Runtime under a real Cognito identity, and governance holds on the real principal. Outsider proves deny-by-default even when the agent drives.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These three are where a governed agent earns a program reviewer's — and an appeal officer's — trust. Each maps to a named requirement.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Ties the technical work to AWS strategy: wins regulated higher-ed deals, reusable (now proven three times), low-risk, credible because honest.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We own the pattern and the proof; the institution owns certification, connectors, and the authoritative award rules.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Close on the multiplier: one pattern, three verticals proven, one to go. The ask is a three-step path from internal demo to a scoped, synthetic-data pilot.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E2A4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E2A47"/>
          </a:solidFill>
          <a:ln/>
        </p:spPr>
      </p:sp>
      <p:sp>
        <p:nvSpPr>
          <p:cNvPr id="3" name="Shape 1"/>
          <p:cNvSpPr/>
          <p:nvPr/>
        </p:nvSpPr>
        <p:spPr>
          <a:xfrm>
            <a:off x="8595360" y="-1737360"/>
            <a:ext cx="5669280" cy="5669280"/>
          </a:xfrm>
          <a:prstGeom prst="ellipse">
            <a:avLst/>
          </a:prstGeom>
          <a:solidFill>
            <a:srgbClr val="143A5E"/>
          </a:solidFill>
          <a:ln/>
        </p:spPr>
      </p:sp>
      <p:sp>
        <p:nvSpPr>
          <p:cNvPr id="4" name="Shape 2"/>
          <p:cNvSpPr/>
          <p:nvPr/>
        </p:nvSpPr>
        <p:spPr>
          <a:xfrm>
            <a:off x="9509760" y="-822960"/>
            <a:ext cx="3840480" cy="3840480"/>
          </a:xfrm>
          <a:prstGeom prst="ellipse">
            <a:avLst/>
          </a:prstGeom>
          <a:solidFill>
            <a:srgbClr val="18466F"/>
          </a:solidFill>
          <a:ln/>
        </p:spPr>
      </p:sp>
      <p:sp>
        <p:nvSpPr>
          <p:cNvPr id="5" name="Shape 3"/>
          <p:cNvSpPr/>
          <p:nvPr/>
        </p:nvSpPr>
        <p:spPr>
          <a:xfrm>
            <a:off x="10287000" y="-45720"/>
            <a:ext cx="2286000" cy="2286000"/>
          </a:xfrm>
          <a:prstGeom prst="ellipse">
            <a:avLst/>
          </a:prstGeom>
          <a:solidFill>
            <a:srgbClr val="1C7293"/>
          </a:solidFill>
          <a:ln/>
        </p:spPr>
      </p:sp>
      <p:sp>
        <p:nvSpPr>
          <p:cNvPr id="6" name="Text 4"/>
          <p:cNvSpPr/>
          <p:nvPr/>
        </p:nvSpPr>
        <p:spPr>
          <a:xfrm>
            <a:off x="640080" y="123444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02C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AMAZON BEDROCK AGENTCORE  ·  HIGHER EDUCATION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603504" y="1783080"/>
            <a:ext cx="10607040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2000"/>
              </a:lnSpc>
              <a:buNone/>
            </a:pPr>
            <a:r>
              <a:rPr lang="en-US" sz="3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Governed Agentic AI,</a:t>
            </a:r>
            <a:endParaRPr lang="en-US" sz="3800" dirty="0"/>
          </a:p>
          <a:p>
            <a:pPr indent="0" marL="0">
              <a:lnSpc>
                <a:spcPct val="102000"/>
              </a:lnSpc>
              <a:buNone/>
            </a:pPr>
            <a:r>
              <a:rPr lang="en-US" sz="3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Proven in Federal Student-Aid Awarding</a:t>
            </a:r>
            <a:endParaRPr lang="en-US" sz="3800" dirty="0"/>
          </a:p>
        </p:txBody>
      </p:sp>
      <p:sp>
        <p:nvSpPr>
          <p:cNvPr id="8" name="Text 6"/>
          <p:cNvSpPr/>
          <p:nvPr/>
        </p:nvSpPr>
        <p:spPr>
          <a:xfrm>
            <a:off x="640080" y="3794760"/>
            <a:ext cx="88696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6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Title IV financial-aid accelerator running natively on Amazon Bedrock AgentCore — identity-bound, deny-by-default with Cedar, and proven end-to-end on AWS. The third vertical built from one reusable template.</a:t>
            </a:r>
            <a:endParaRPr lang="en-US" sz="1600" dirty="0"/>
          </a:p>
        </p:txBody>
      </p:sp>
      <p:sp>
        <p:nvSpPr>
          <p:cNvPr id="9" name="Shape 7"/>
          <p:cNvSpPr/>
          <p:nvPr/>
        </p:nvSpPr>
        <p:spPr>
          <a:xfrm>
            <a:off x="640080" y="5029200"/>
            <a:ext cx="3072384" cy="457200"/>
          </a:xfrm>
          <a:prstGeom prst="roundRect">
            <a:avLst>
              <a:gd name="adj" fmla="val 50000"/>
            </a:avLst>
          </a:prstGeom>
          <a:solidFill>
            <a:srgbClr val="143A5E"/>
          </a:solidFill>
          <a:ln w="12700">
            <a:solidFill>
              <a:srgbClr val="1C7293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640080" y="5029200"/>
            <a:ext cx="307238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32 / 32 live governance checks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3941064" y="5029200"/>
            <a:ext cx="2445106" cy="457200"/>
          </a:xfrm>
          <a:prstGeom prst="roundRect">
            <a:avLst>
              <a:gd name="adj" fmla="val 50000"/>
            </a:avLst>
          </a:prstGeom>
          <a:solidFill>
            <a:srgbClr val="143A5E"/>
          </a:solidFill>
          <a:ln w="12700">
            <a:solidFill>
              <a:srgbClr val="1C7293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941064" y="5029200"/>
            <a:ext cx="244510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 native on Runtime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6614770" y="5029200"/>
            <a:ext cx="3251606" cy="457200"/>
          </a:xfrm>
          <a:prstGeom prst="roundRect">
            <a:avLst>
              <a:gd name="adj" fmla="val 50000"/>
            </a:avLst>
          </a:prstGeom>
          <a:solidFill>
            <a:srgbClr val="143A5E"/>
          </a:solidFill>
          <a:ln w="12700">
            <a:solidFill>
              <a:srgbClr val="1C7293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6614770" y="5029200"/>
            <a:ext cx="325160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Third vertical from one template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640080" y="612648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7A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Draft v1 · 2026</a:t>
            </a:r>
            <a:endParaRPr lang="en-US" sz="1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4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256032"/>
            <a:ext cx="10972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PROBLEM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4114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700" b="1" dirty="0">
                <a:solidFill>
                  <a:srgbClr val="1A27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Aid offices want agentic AI for awarding. They can't deploy an ungoverned one.</a:t>
            </a:r>
            <a:endParaRPr lang="en-US" sz="2700" dirty="0"/>
          </a:p>
        </p:txBody>
      </p:sp>
      <p:sp>
        <p:nvSpPr>
          <p:cNvPr id="4" name="Text 2"/>
          <p:cNvSpPr/>
          <p:nvPr/>
        </p:nvSpPr>
        <p:spPr>
          <a:xfrm>
            <a:off x="566928" y="1371600"/>
            <a:ext cx="109728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50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 agent that touches student PII and education records and issues aid determinations must be identity-bound, deny-by-default, auditable, and </a:t>
            </a:r>
            <a:pPr indent="0" marL="0">
              <a:lnSpc>
                <a:spcPct val="115000"/>
              </a:lnSpc>
              <a:buNone/>
            </a:pPr>
            <a:r>
              <a:rPr lang="en-US" sz="1500" b="1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incapable of awarding on its own.</a:t>
            </a:r>
            <a:pPr indent="0" marL="0">
              <a:lnSpc>
                <a:spcPct val="115000"/>
              </a:lnSpc>
              <a:buNone/>
            </a:pPr>
            <a:r>
              <a:rPr lang="en-US" sz="150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“Impressive demo” is not the bar — “will survive a program review and an appeal” is.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566928" y="2514600"/>
            <a:ext cx="3529584" cy="3291840"/>
          </a:xfrm>
          <a:prstGeom prst="roundRect">
            <a:avLst>
              <a:gd name="adj" fmla="val 2500"/>
            </a:avLst>
          </a:prstGeom>
          <a:solidFill>
            <a:srgbClr val="FFFFFF"/>
          </a:solidFill>
          <a:ln w="12700">
            <a:solidFill>
              <a:srgbClr val="D9E1E8"/>
            </a:solidFill>
            <a:prstDash val="solid"/>
          </a:ln>
          <a:effectLst>
            <a:outerShdw sx="100000" sy="100000" kx="0" ky="0" algn="bl" rotWithShape="0" blurRad="114300" dist="38100" dir="5400000">
              <a:srgbClr val="0A1F33">
                <a:alpha val="22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859536" y="2825496"/>
            <a:ext cx="566928" cy="566928"/>
          </a:xfrm>
          <a:prstGeom prst="ellipse">
            <a:avLst/>
          </a:prstGeom>
          <a:solidFill>
            <a:srgbClr val="1C7293"/>
          </a:solidFill>
          <a:ln/>
          <a:effectLst>
            <a:outerShdw sx="100000" sy="100000" kx="0" ky="0" algn="bl" rotWithShape="0" blurRad="76200" dist="25400" dir="5400000">
              <a:srgbClr val="0A1F33">
                <a:alpha val="18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859536" y="2825496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1591056" y="2843784"/>
            <a:ext cx="234086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A27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Touches education records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877824" y="3657600"/>
            <a:ext cx="29260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350" dirty="0">
                <a:solidFill>
                  <a:srgbClr val="3443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Names, SSNs, and tax-derived income flow through the FAFSA/ISIR.</a:t>
            </a:r>
            <a:endParaRPr lang="en-US" sz="1350" dirty="0"/>
          </a:p>
        </p:txBody>
      </p:sp>
      <p:sp>
        <p:nvSpPr>
          <p:cNvPr id="10" name="Shape 8"/>
          <p:cNvSpPr/>
          <p:nvPr/>
        </p:nvSpPr>
        <p:spPr>
          <a:xfrm>
            <a:off x="877824" y="5093208"/>
            <a:ext cx="2907792" cy="457200"/>
          </a:xfrm>
          <a:prstGeom prst="roundRect">
            <a:avLst>
              <a:gd name="adj" fmla="val 16000"/>
            </a:avLst>
          </a:prstGeom>
          <a:solidFill>
            <a:srgbClr val="F4F7FA"/>
          </a:solidFill>
          <a:ln/>
        </p:spPr>
      </p:sp>
      <p:sp>
        <p:nvSpPr>
          <p:cNvPr id="11" name="Text 9"/>
          <p:cNvSpPr/>
          <p:nvPr/>
        </p:nvSpPr>
        <p:spPr>
          <a:xfrm>
            <a:off x="877824" y="5093208"/>
            <a:ext cx="290779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FERPA · GLBA · de-identification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4315968" y="2514600"/>
            <a:ext cx="3529584" cy="3291840"/>
          </a:xfrm>
          <a:prstGeom prst="roundRect">
            <a:avLst>
              <a:gd name="adj" fmla="val 2500"/>
            </a:avLst>
          </a:prstGeom>
          <a:solidFill>
            <a:srgbClr val="FFFFFF"/>
          </a:solidFill>
          <a:ln w="12700">
            <a:solidFill>
              <a:srgbClr val="D9E1E8"/>
            </a:solidFill>
            <a:prstDash val="solid"/>
          </a:ln>
          <a:effectLst>
            <a:outerShdw sx="100000" sy="100000" kx="0" ky="0" algn="bl" rotWithShape="0" blurRad="114300" dist="38100" dir="5400000">
              <a:srgbClr val="0A1F33">
                <a:alpha val="22000"/>
              </a:srgbClr>
            </a:outerShdw>
          </a:effectLst>
        </p:spPr>
      </p:sp>
      <p:sp>
        <p:nvSpPr>
          <p:cNvPr id="13" name="Shape 11"/>
          <p:cNvSpPr/>
          <p:nvPr/>
        </p:nvSpPr>
        <p:spPr>
          <a:xfrm>
            <a:off x="4608576" y="2825496"/>
            <a:ext cx="566928" cy="566928"/>
          </a:xfrm>
          <a:prstGeom prst="ellipse">
            <a:avLst/>
          </a:prstGeom>
          <a:solidFill>
            <a:srgbClr val="E8A13A"/>
          </a:solidFill>
          <a:ln/>
          <a:effectLst>
            <a:outerShdw sx="100000" sy="100000" kx="0" ky="0" algn="bl" rotWithShape="0" blurRad="76200" dist="25400" dir="5400000">
              <a:srgbClr val="0A1F33">
                <a:alpha val="18000"/>
              </a:srgbClr>
            </a:outerShdw>
          </a:effectLst>
        </p:spPr>
      </p:sp>
      <p:sp>
        <p:nvSpPr>
          <p:cNvPr id="14" name="Text 12"/>
          <p:cNvSpPr/>
          <p:nvPr/>
        </p:nvSpPr>
        <p:spPr>
          <a:xfrm>
            <a:off x="4608576" y="2825496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600" dirty="0"/>
          </a:p>
        </p:txBody>
      </p:sp>
      <p:sp>
        <p:nvSpPr>
          <p:cNvPr id="15" name="Text 13"/>
          <p:cNvSpPr/>
          <p:nvPr/>
        </p:nvSpPr>
        <p:spPr>
          <a:xfrm>
            <a:off x="5340096" y="2843784"/>
            <a:ext cx="234086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A27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Creates records with consequences</a:t>
            </a:r>
            <a:endParaRPr lang="en-US" sz="1600" dirty="0"/>
          </a:p>
        </p:txBody>
      </p:sp>
      <p:sp>
        <p:nvSpPr>
          <p:cNvPr id="16" name="Text 14"/>
          <p:cNvSpPr/>
          <p:nvPr/>
        </p:nvSpPr>
        <p:spPr>
          <a:xfrm>
            <a:off x="4626864" y="3657600"/>
            <a:ext cx="29260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350" dirty="0">
                <a:solidFill>
                  <a:srgbClr val="3443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award notice affects a student's aid and their right to appeal.</a:t>
            </a:r>
            <a:endParaRPr lang="en-US" sz="1350" dirty="0"/>
          </a:p>
        </p:txBody>
      </p:sp>
      <p:sp>
        <p:nvSpPr>
          <p:cNvPr id="17" name="Shape 15"/>
          <p:cNvSpPr/>
          <p:nvPr/>
        </p:nvSpPr>
        <p:spPr>
          <a:xfrm>
            <a:off x="4626864" y="5093208"/>
            <a:ext cx="2907792" cy="457200"/>
          </a:xfrm>
          <a:prstGeom prst="roundRect">
            <a:avLst>
              <a:gd name="adj" fmla="val 16000"/>
            </a:avLst>
          </a:prstGeom>
          <a:solidFill>
            <a:srgbClr val="F4F7FA"/>
          </a:solidFill>
          <a:ln/>
        </p:spPr>
      </p:sp>
      <p:sp>
        <p:nvSpPr>
          <p:cNvPr id="18" name="Text 16"/>
          <p:cNvSpPr/>
          <p:nvPr/>
        </p:nvSpPr>
        <p:spPr>
          <a:xfrm>
            <a:off x="4626864" y="5093208"/>
            <a:ext cx="290779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E8A1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Title IV · student appeal rights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8065008" y="2514600"/>
            <a:ext cx="3529584" cy="3291840"/>
          </a:xfrm>
          <a:prstGeom prst="roundRect">
            <a:avLst>
              <a:gd name="adj" fmla="val 2500"/>
            </a:avLst>
          </a:prstGeom>
          <a:solidFill>
            <a:srgbClr val="FFFFFF"/>
          </a:solidFill>
          <a:ln w="12700">
            <a:solidFill>
              <a:srgbClr val="D9E1E8"/>
            </a:solidFill>
            <a:prstDash val="solid"/>
          </a:ln>
          <a:effectLst>
            <a:outerShdw sx="100000" sy="100000" kx="0" ky="0" algn="bl" rotWithShape="0" blurRad="114300" dist="38100" dir="5400000">
              <a:srgbClr val="0A1F33">
                <a:alpha val="22000"/>
              </a:srgbClr>
            </a:outerShdw>
          </a:effectLst>
        </p:spPr>
      </p:sp>
      <p:sp>
        <p:nvSpPr>
          <p:cNvPr id="20" name="Shape 18"/>
          <p:cNvSpPr/>
          <p:nvPr/>
        </p:nvSpPr>
        <p:spPr>
          <a:xfrm>
            <a:off x="8357616" y="2825496"/>
            <a:ext cx="566928" cy="566928"/>
          </a:xfrm>
          <a:prstGeom prst="ellipse">
            <a:avLst/>
          </a:prstGeom>
          <a:solidFill>
            <a:srgbClr val="02C39A"/>
          </a:solidFill>
          <a:ln/>
          <a:effectLst>
            <a:outerShdw sx="100000" sy="100000" kx="0" ky="0" algn="bl" rotWithShape="0" blurRad="76200" dist="25400" dir="5400000">
              <a:srgbClr val="0A1F33">
                <a:alpha val="18000"/>
              </a:srgbClr>
            </a:outerShdw>
          </a:effectLst>
        </p:spPr>
      </p:sp>
      <p:sp>
        <p:nvSpPr>
          <p:cNvPr id="21" name="Text 19"/>
          <p:cNvSpPr/>
          <p:nvPr/>
        </p:nvSpPr>
        <p:spPr>
          <a:xfrm>
            <a:off x="8357616" y="2825496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600" dirty="0"/>
          </a:p>
        </p:txBody>
      </p:sp>
      <p:sp>
        <p:nvSpPr>
          <p:cNvPr id="22" name="Text 20"/>
          <p:cNvSpPr/>
          <p:nvPr/>
        </p:nvSpPr>
        <p:spPr>
          <a:xfrm>
            <a:off x="9089136" y="2843784"/>
            <a:ext cx="234086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A27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Takes consequential actions</a:t>
            </a:r>
            <a:endParaRPr lang="en-US" sz="1600" dirty="0"/>
          </a:p>
        </p:txBody>
      </p:sp>
      <p:sp>
        <p:nvSpPr>
          <p:cNvPr id="23" name="Text 21"/>
          <p:cNvSpPr/>
          <p:nvPr/>
        </p:nvSpPr>
        <p:spPr>
          <a:xfrm>
            <a:off x="8375904" y="3657600"/>
            <a:ext cx="29260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350" dirty="0">
                <a:solidFill>
                  <a:srgbClr val="3443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Committing an award grants or denies federal aid — accountably.</a:t>
            </a:r>
            <a:endParaRPr lang="en-US" sz="1350" dirty="0"/>
          </a:p>
        </p:txBody>
      </p:sp>
      <p:sp>
        <p:nvSpPr>
          <p:cNvPr id="24" name="Shape 22"/>
          <p:cNvSpPr/>
          <p:nvPr/>
        </p:nvSpPr>
        <p:spPr>
          <a:xfrm>
            <a:off x="8375904" y="5093208"/>
            <a:ext cx="2907792" cy="457200"/>
          </a:xfrm>
          <a:prstGeom prst="roundRect">
            <a:avLst>
              <a:gd name="adj" fmla="val 16000"/>
            </a:avLst>
          </a:prstGeom>
          <a:solidFill>
            <a:srgbClr val="F4F7FA"/>
          </a:solidFill>
          <a:ln/>
        </p:spPr>
      </p:sp>
      <p:sp>
        <p:nvSpPr>
          <p:cNvPr id="25" name="Text 23"/>
          <p:cNvSpPr/>
          <p:nvPr/>
        </p:nvSpPr>
        <p:spPr>
          <a:xfrm>
            <a:off x="8375904" y="5093208"/>
            <a:ext cx="290779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2C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Program integrity · separation of duties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548640" y="6455664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6B7A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Governed Agentic AI · Amazon Bedrock AgentCore</a:t>
            </a:r>
            <a:endParaRPr lang="en-US" sz="800" dirty="0"/>
          </a:p>
        </p:txBody>
      </p:sp>
      <p:sp>
        <p:nvSpPr>
          <p:cNvPr id="27" name="Text 25"/>
          <p:cNvSpPr/>
          <p:nvPr/>
        </p:nvSpPr>
        <p:spPr>
          <a:xfrm>
            <a:off x="11338560" y="6419088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A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02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4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256032"/>
            <a:ext cx="10972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NOW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4114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700" b="1" dirty="0">
                <a:solidFill>
                  <a:srgbClr val="1A27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AWS just shipped the governance primitives</a:t>
            </a:r>
            <a:endParaRPr lang="en-US" sz="2700" dirty="0"/>
          </a:p>
        </p:txBody>
      </p:sp>
      <p:sp>
        <p:nvSpPr>
          <p:cNvPr id="4" name="Text 2"/>
          <p:cNvSpPr/>
          <p:nvPr/>
        </p:nvSpPr>
        <p:spPr>
          <a:xfrm>
            <a:off x="566928" y="1325880"/>
            <a:ext cx="106984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50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Amazon Bedrock AgentCore now provides — as native, managed services — the exact controls a governable agent needs. The gap between a “cool agent” and a “governable agent” just closed, on AWS.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566928" y="2651760"/>
            <a:ext cx="2084832" cy="2880360"/>
          </a:xfrm>
          <a:prstGeom prst="roundRect">
            <a:avLst>
              <a:gd name="adj" fmla="val 3947"/>
            </a:avLst>
          </a:prstGeom>
          <a:solidFill>
            <a:srgbClr val="FFFFFF"/>
          </a:solidFill>
          <a:ln w="12700">
            <a:solidFill>
              <a:srgbClr val="D9E1E8"/>
            </a:solidFill>
            <a:prstDash val="solid"/>
          </a:ln>
          <a:effectLst>
            <a:outerShdw sx="100000" sy="100000" kx="0" ky="0" algn="bl" rotWithShape="0" blurRad="114300" dist="38100" dir="5400000">
              <a:srgbClr val="0A1F33">
                <a:alpha val="22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1298448" y="2971800"/>
            <a:ext cx="621792" cy="621792"/>
          </a:xfrm>
          <a:prstGeom prst="ellipse">
            <a:avLst/>
          </a:prstGeom>
          <a:solidFill>
            <a:srgbClr val="1C7293"/>
          </a:solidFill>
          <a:ln/>
          <a:effectLst>
            <a:outerShdw sx="100000" sy="100000" kx="0" ky="0" algn="bl" rotWithShape="0" blurRad="76200" dist="25400" dir="5400000">
              <a:srgbClr val="0A1F33">
                <a:alpha val="18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1298448" y="2971800"/>
            <a:ext cx="621792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02C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●</a:t>
            </a:r>
            <a:endParaRPr lang="en-US" sz="2000" dirty="0"/>
          </a:p>
        </p:txBody>
      </p:sp>
      <p:sp>
        <p:nvSpPr>
          <p:cNvPr id="8" name="Text 6"/>
          <p:cNvSpPr/>
          <p:nvPr/>
        </p:nvSpPr>
        <p:spPr>
          <a:xfrm>
            <a:off x="676656" y="3749040"/>
            <a:ext cx="186537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50" b="1" dirty="0">
                <a:solidFill>
                  <a:srgbClr val="0E2A4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Identity</a:t>
            </a:r>
            <a:endParaRPr lang="en-US" sz="1550" dirty="0"/>
          </a:p>
        </p:txBody>
      </p:sp>
      <p:sp>
        <p:nvSpPr>
          <p:cNvPr id="9" name="Text 7"/>
          <p:cNvSpPr/>
          <p:nvPr/>
        </p:nvSpPr>
        <p:spPr>
          <a:xfrm>
            <a:off x="713232" y="4224528"/>
            <a:ext cx="1792224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1200" dirty="0">
                <a:solidFill>
                  <a:srgbClr val="4453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Inbound JWT — Cognito or the institution's IdP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2834640" y="2651760"/>
            <a:ext cx="2084832" cy="2880360"/>
          </a:xfrm>
          <a:prstGeom prst="roundRect">
            <a:avLst>
              <a:gd name="adj" fmla="val 3947"/>
            </a:avLst>
          </a:prstGeom>
          <a:solidFill>
            <a:srgbClr val="FFFFFF"/>
          </a:solidFill>
          <a:ln w="12700">
            <a:solidFill>
              <a:srgbClr val="D9E1E8"/>
            </a:solidFill>
            <a:prstDash val="solid"/>
          </a:ln>
          <a:effectLst>
            <a:outerShdw sx="100000" sy="100000" kx="0" ky="0" algn="bl" rotWithShape="0" blurRad="114300" dist="38100" dir="5400000">
              <a:srgbClr val="0A1F33">
                <a:alpha val="22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3566160" y="2971800"/>
            <a:ext cx="621792" cy="621792"/>
          </a:xfrm>
          <a:prstGeom prst="ellipse">
            <a:avLst/>
          </a:prstGeom>
          <a:solidFill>
            <a:srgbClr val="1C7293"/>
          </a:solidFill>
          <a:ln/>
          <a:effectLst>
            <a:outerShdw sx="100000" sy="100000" kx="0" ky="0" algn="bl" rotWithShape="0" blurRad="76200" dist="25400" dir="5400000">
              <a:srgbClr val="0A1F33">
                <a:alpha val="18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3566160" y="2971800"/>
            <a:ext cx="621792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02C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●</a:t>
            </a:r>
            <a:endParaRPr lang="en-US" sz="2000" dirty="0"/>
          </a:p>
        </p:txBody>
      </p:sp>
      <p:sp>
        <p:nvSpPr>
          <p:cNvPr id="13" name="Text 11"/>
          <p:cNvSpPr/>
          <p:nvPr/>
        </p:nvSpPr>
        <p:spPr>
          <a:xfrm>
            <a:off x="2944368" y="3749040"/>
            <a:ext cx="186537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50" b="1" dirty="0">
                <a:solidFill>
                  <a:srgbClr val="0E2A4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Policy (Cedar)</a:t>
            </a:r>
            <a:endParaRPr lang="en-US" sz="1550" dirty="0"/>
          </a:p>
        </p:txBody>
      </p:sp>
      <p:sp>
        <p:nvSpPr>
          <p:cNvPr id="14" name="Text 12"/>
          <p:cNvSpPr/>
          <p:nvPr/>
        </p:nvSpPr>
        <p:spPr>
          <a:xfrm>
            <a:off x="2980944" y="4224528"/>
            <a:ext cx="1792224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1200" dirty="0">
                <a:solidFill>
                  <a:srgbClr val="4453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Deny-by-default, forbid-wins authorization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5102352" y="2651760"/>
            <a:ext cx="2084832" cy="2880360"/>
          </a:xfrm>
          <a:prstGeom prst="roundRect">
            <a:avLst>
              <a:gd name="adj" fmla="val 3947"/>
            </a:avLst>
          </a:prstGeom>
          <a:solidFill>
            <a:srgbClr val="FFFFFF"/>
          </a:solidFill>
          <a:ln w="12700">
            <a:solidFill>
              <a:srgbClr val="D9E1E8"/>
            </a:solidFill>
            <a:prstDash val="solid"/>
          </a:ln>
          <a:effectLst>
            <a:outerShdw sx="100000" sy="100000" kx="0" ky="0" algn="bl" rotWithShape="0" blurRad="114300" dist="38100" dir="5400000">
              <a:srgbClr val="0A1F33">
                <a:alpha val="22000"/>
              </a:srgbClr>
            </a:outerShdw>
          </a:effectLst>
        </p:spPr>
      </p:sp>
      <p:sp>
        <p:nvSpPr>
          <p:cNvPr id="16" name="Shape 14"/>
          <p:cNvSpPr/>
          <p:nvPr/>
        </p:nvSpPr>
        <p:spPr>
          <a:xfrm>
            <a:off x="5833872" y="2971800"/>
            <a:ext cx="621792" cy="621792"/>
          </a:xfrm>
          <a:prstGeom prst="ellipse">
            <a:avLst/>
          </a:prstGeom>
          <a:solidFill>
            <a:srgbClr val="1C7293"/>
          </a:solidFill>
          <a:ln/>
          <a:effectLst>
            <a:outerShdw sx="100000" sy="100000" kx="0" ky="0" algn="bl" rotWithShape="0" blurRad="76200" dist="25400" dir="5400000">
              <a:srgbClr val="0A1F33">
                <a:alpha val="18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5833872" y="2971800"/>
            <a:ext cx="621792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02C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●</a:t>
            </a:r>
            <a:endParaRPr lang="en-US" sz="2000" dirty="0"/>
          </a:p>
        </p:txBody>
      </p:sp>
      <p:sp>
        <p:nvSpPr>
          <p:cNvPr id="18" name="Text 16"/>
          <p:cNvSpPr/>
          <p:nvPr/>
        </p:nvSpPr>
        <p:spPr>
          <a:xfrm>
            <a:off x="5212080" y="3749040"/>
            <a:ext cx="186537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50" b="1" dirty="0">
                <a:solidFill>
                  <a:srgbClr val="0E2A4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Gateway</a:t>
            </a:r>
            <a:endParaRPr lang="en-US" sz="1550" dirty="0"/>
          </a:p>
        </p:txBody>
      </p:sp>
      <p:sp>
        <p:nvSpPr>
          <p:cNvPr id="19" name="Text 17"/>
          <p:cNvSpPr/>
          <p:nvPr/>
        </p:nvSpPr>
        <p:spPr>
          <a:xfrm>
            <a:off x="5248656" y="4224528"/>
            <a:ext cx="1792224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1200" dirty="0">
                <a:solidFill>
                  <a:srgbClr val="4453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APIs / Lambda exposed as governed MCP tools</a:t>
            </a:r>
            <a:endParaRPr lang="en-US" sz="1200" dirty="0"/>
          </a:p>
        </p:txBody>
      </p:sp>
      <p:sp>
        <p:nvSpPr>
          <p:cNvPr id="20" name="Shape 18"/>
          <p:cNvSpPr/>
          <p:nvPr/>
        </p:nvSpPr>
        <p:spPr>
          <a:xfrm>
            <a:off x="7370064" y="2651760"/>
            <a:ext cx="2084832" cy="2880360"/>
          </a:xfrm>
          <a:prstGeom prst="roundRect">
            <a:avLst>
              <a:gd name="adj" fmla="val 3947"/>
            </a:avLst>
          </a:prstGeom>
          <a:solidFill>
            <a:srgbClr val="FFFFFF"/>
          </a:solidFill>
          <a:ln w="12700">
            <a:solidFill>
              <a:srgbClr val="D9E1E8"/>
            </a:solidFill>
            <a:prstDash val="solid"/>
          </a:ln>
          <a:effectLst>
            <a:outerShdw sx="100000" sy="100000" kx="0" ky="0" algn="bl" rotWithShape="0" blurRad="114300" dist="38100" dir="5400000">
              <a:srgbClr val="0A1F33">
                <a:alpha val="22000"/>
              </a:srgbClr>
            </a:outerShdw>
          </a:effectLst>
        </p:spPr>
      </p:sp>
      <p:sp>
        <p:nvSpPr>
          <p:cNvPr id="21" name="Shape 19"/>
          <p:cNvSpPr/>
          <p:nvPr/>
        </p:nvSpPr>
        <p:spPr>
          <a:xfrm>
            <a:off x="8101584" y="2971800"/>
            <a:ext cx="621792" cy="621792"/>
          </a:xfrm>
          <a:prstGeom prst="ellipse">
            <a:avLst/>
          </a:prstGeom>
          <a:solidFill>
            <a:srgbClr val="1C7293"/>
          </a:solidFill>
          <a:ln/>
          <a:effectLst>
            <a:outerShdw sx="100000" sy="100000" kx="0" ky="0" algn="bl" rotWithShape="0" blurRad="76200" dist="25400" dir="5400000">
              <a:srgbClr val="0A1F33">
                <a:alpha val="18000"/>
              </a:srgbClr>
            </a:outerShdw>
          </a:effectLst>
        </p:spPr>
      </p:sp>
      <p:sp>
        <p:nvSpPr>
          <p:cNvPr id="22" name="Text 20"/>
          <p:cNvSpPr/>
          <p:nvPr/>
        </p:nvSpPr>
        <p:spPr>
          <a:xfrm>
            <a:off x="8101584" y="2971800"/>
            <a:ext cx="621792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02C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●</a:t>
            </a:r>
            <a:endParaRPr lang="en-US" sz="2000" dirty="0"/>
          </a:p>
        </p:txBody>
      </p:sp>
      <p:sp>
        <p:nvSpPr>
          <p:cNvPr id="23" name="Text 21"/>
          <p:cNvSpPr/>
          <p:nvPr/>
        </p:nvSpPr>
        <p:spPr>
          <a:xfrm>
            <a:off x="7479792" y="3749040"/>
            <a:ext cx="186537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50" b="1" dirty="0">
                <a:solidFill>
                  <a:srgbClr val="0E2A4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Runtime</a:t>
            </a:r>
            <a:endParaRPr lang="en-US" sz="1550" dirty="0"/>
          </a:p>
        </p:txBody>
      </p:sp>
      <p:sp>
        <p:nvSpPr>
          <p:cNvPr id="24" name="Text 22"/>
          <p:cNvSpPr/>
          <p:nvPr/>
        </p:nvSpPr>
        <p:spPr>
          <a:xfrm>
            <a:off x="7516368" y="4224528"/>
            <a:ext cx="1792224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1200" dirty="0">
                <a:solidFill>
                  <a:srgbClr val="4453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Serverless, session-isolated agent hosting</a:t>
            </a:r>
            <a:endParaRPr lang="en-US" sz="1200" dirty="0"/>
          </a:p>
        </p:txBody>
      </p:sp>
      <p:sp>
        <p:nvSpPr>
          <p:cNvPr id="25" name="Shape 23"/>
          <p:cNvSpPr/>
          <p:nvPr/>
        </p:nvSpPr>
        <p:spPr>
          <a:xfrm>
            <a:off x="9637776" y="2651760"/>
            <a:ext cx="2084832" cy="2880360"/>
          </a:xfrm>
          <a:prstGeom prst="roundRect">
            <a:avLst>
              <a:gd name="adj" fmla="val 3947"/>
            </a:avLst>
          </a:prstGeom>
          <a:solidFill>
            <a:srgbClr val="FFFFFF"/>
          </a:solidFill>
          <a:ln w="12700">
            <a:solidFill>
              <a:srgbClr val="D9E1E8"/>
            </a:solidFill>
            <a:prstDash val="solid"/>
          </a:ln>
          <a:effectLst>
            <a:outerShdw sx="100000" sy="100000" kx="0" ky="0" algn="bl" rotWithShape="0" blurRad="114300" dist="38100" dir="5400000">
              <a:srgbClr val="0A1F33">
                <a:alpha val="22000"/>
              </a:srgbClr>
            </a:outerShdw>
          </a:effectLst>
        </p:spPr>
      </p:sp>
      <p:sp>
        <p:nvSpPr>
          <p:cNvPr id="26" name="Shape 24"/>
          <p:cNvSpPr/>
          <p:nvPr/>
        </p:nvSpPr>
        <p:spPr>
          <a:xfrm>
            <a:off x="10369296" y="2971800"/>
            <a:ext cx="621792" cy="621792"/>
          </a:xfrm>
          <a:prstGeom prst="ellipse">
            <a:avLst/>
          </a:prstGeom>
          <a:solidFill>
            <a:srgbClr val="1C7293"/>
          </a:solidFill>
          <a:ln/>
          <a:effectLst>
            <a:outerShdw sx="100000" sy="100000" kx="0" ky="0" algn="bl" rotWithShape="0" blurRad="76200" dist="25400" dir="5400000">
              <a:srgbClr val="0A1F33">
                <a:alpha val="18000"/>
              </a:srgbClr>
            </a:outerShdw>
          </a:effectLst>
        </p:spPr>
      </p:sp>
      <p:sp>
        <p:nvSpPr>
          <p:cNvPr id="27" name="Text 25"/>
          <p:cNvSpPr/>
          <p:nvPr/>
        </p:nvSpPr>
        <p:spPr>
          <a:xfrm>
            <a:off x="10369296" y="2971800"/>
            <a:ext cx="621792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02C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●</a:t>
            </a:r>
            <a:endParaRPr lang="en-US" sz="2000" dirty="0"/>
          </a:p>
        </p:txBody>
      </p:sp>
      <p:sp>
        <p:nvSpPr>
          <p:cNvPr id="28" name="Text 26"/>
          <p:cNvSpPr/>
          <p:nvPr/>
        </p:nvSpPr>
        <p:spPr>
          <a:xfrm>
            <a:off x="9747504" y="3749040"/>
            <a:ext cx="186537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50" b="1" dirty="0">
                <a:solidFill>
                  <a:srgbClr val="0E2A4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Observability</a:t>
            </a:r>
            <a:endParaRPr lang="en-US" sz="1550" dirty="0"/>
          </a:p>
        </p:txBody>
      </p:sp>
      <p:sp>
        <p:nvSpPr>
          <p:cNvPr id="29" name="Text 27"/>
          <p:cNvSpPr/>
          <p:nvPr/>
        </p:nvSpPr>
        <p:spPr>
          <a:xfrm>
            <a:off x="9784080" y="4224528"/>
            <a:ext cx="1792224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1200" dirty="0">
                <a:solidFill>
                  <a:srgbClr val="4453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OpenTelemetry spans per agent &amp; tool step</a:t>
            </a:r>
            <a:endParaRPr lang="en-US" sz="1200" dirty="0"/>
          </a:p>
        </p:txBody>
      </p:sp>
      <p:sp>
        <p:nvSpPr>
          <p:cNvPr id="30" name="Text 28"/>
          <p:cNvSpPr/>
          <p:nvPr/>
        </p:nvSpPr>
        <p:spPr>
          <a:xfrm>
            <a:off x="566928" y="5715000"/>
            <a:ext cx="10972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Five native governance primitives — no platform to hand-build.</a:t>
            </a:r>
            <a:endParaRPr lang="en-US" sz="1300" dirty="0"/>
          </a:p>
        </p:txBody>
      </p:sp>
      <p:sp>
        <p:nvSpPr>
          <p:cNvPr id="31" name="Text 29"/>
          <p:cNvSpPr/>
          <p:nvPr/>
        </p:nvSpPr>
        <p:spPr>
          <a:xfrm>
            <a:off x="548640" y="6455664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6B7A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Governed Agentic AI · Amazon Bedrock AgentCore</a:t>
            </a:r>
            <a:endParaRPr lang="en-US" sz="800" dirty="0"/>
          </a:p>
        </p:txBody>
      </p:sp>
      <p:sp>
        <p:nvSpPr>
          <p:cNvPr id="32" name="Text 30"/>
          <p:cNvSpPr/>
          <p:nvPr/>
        </p:nvSpPr>
        <p:spPr>
          <a:xfrm>
            <a:off x="11338560" y="6419088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A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E2A4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256032"/>
            <a:ext cx="10972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02C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THESIS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4114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Implement the regulated pattern natively — don't rebuild the platform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566928" y="1554480"/>
            <a:ext cx="5394960" cy="3977640"/>
          </a:xfrm>
          <a:prstGeom prst="roundRect">
            <a:avLst>
              <a:gd name="adj" fmla="val 2299"/>
            </a:avLst>
          </a:prstGeom>
          <a:solidFill>
            <a:srgbClr val="143A5E"/>
          </a:solidFill>
          <a:ln w="12700">
            <a:solidFill>
              <a:srgbClr val="D9E1E8"/>
            </a:solidFill>
            <a:prstDash val="solid"/>
          </a:ln>
          <a:effectLst>
            <a:outerShdw sx="100000" sy="100000" kx="0" ky="0" algn="bl" rotWithShape="0" blurRad="114300" dist="38100" dir="5400000">
              <a:srgbClr val="0A1F33">
                <a:alpha val="22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868680" y="1828800"/>
            <a:ext cx="4754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150" kern="0" dirty="0">
                <a:solidFill>
                  <a:srgbClr val="02C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NATIVE ON AGENTCORE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868680" y="2331720"/>
            <a:ext cx="310896" cy="310896"/>
          </a:xfrm>
          <a:prstGeom prst="ellipse">
            <a:avLst/>
          </a:prstGeom>
          <a:solidFill>
            <a:srgbClr val="02C39A"/>
          </a:solidFill>
          <a:ln/>
          <a:effectLst>
            <a:outerShdw sx="100000" sy="100000" kx="0" ky="0" algn="bl" rotWithShape="0" blurRad="76200" dist="25400" dir="5400000">
              <a:srgbClr val="0A1F33">
                <a:alpha val="18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868680" y="233172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E2A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1298448" y="2295144"/>
            <a:ext cx="44805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Verified human + agent identity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868680" y="2843784"/>
            <a:ext cx="310896" cy="310896"/>
          </a:xfrm>
          <a:prstGeom prst="ellipse">
            <a:avLst/>
          </a:prstGeom>
          <a:solidFill>
            <a:srgbClr val="02C39A"/>
          </a:solidFill>
          <a:ln/>
          <a:effectLst>
            <a:outerShdw sx="100000" sy="100000" kx="0" ky="0" algn="bl" rotWithShape="0" blurRad="76200" dist="25400" dir="5400000">
              <a:srgbClr val="0A1F33">
                <a:alpha val="18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868680" y="2843784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E2A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1298448" y="2807208"/>
            <a:ext cx="44805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Deny-by-default authorization (Cedar)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868680" y="3355848"/>
            <a:ext cx="310896" cy="310896"/>
          </a:xfrm>
          <a:prstGeom prst="ellipse">
            <a:avLst/>
          </a:prstGeom>
          <a:solidFill>
            <a:srgbClr val="02C39A"/>
          </a:solidFill>
          <a:ln/>
          <a:effectLst>
            <a:outerShdw sx="100000" sy="100000" kx="0" ky="0" algn="bl" rotWithShape="0" blurRad="76200" dist="25400" dir="5400000">
              <a:srgbClr val="0A1F33">
                <a:alpha val="18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868680" y="335584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E2A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300" dirty="0"/>
          </a:p>
        </p:txBody>
      </p:sp>
      <p:sp>
        <p:nvSpPr>
          <p:cNvPr id="14" name="Text 12"/>
          <p:cNvSpPr/>
          <p:nvPr/>
        </p:nvSpPr>
        <p:spPr>
          <a:xfrm>
            <a:off x="1298448" y="3319272"/>
            <a:ext cx="44805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Least-privilege intersection (agent ∩ aid officer)</a:t>
            </a:r>
            <a:endParaRPr lang="en-US" sz="1300" dirty="0"/>
          </a:p>
        </p:txBody>
      </p:sp>
      <p:sp>
        <p:nvSpPr>
          <p:cNvPr id="15" name="Shape 13"/>
          <p:cNvSpPr/>
          <p:nvPr/>
        </p:nvSpPr>
        <p:spPr>
          <a:xfrm>
            <a:off x="868680" y="3867912"/>
            <a:ext cx="310896" cy="310896"/>
          </a:xfrm>
          <a:prstGeom prst="ellipse">
            <a:avLst/>
          </a:prstGeom>
          <a:solidFill>
            <a:srgbClr val="02C39A"/>
          </a:solidFill>
          <a:ln/>
          <a:effectLst>
            <a:outerShdw sx="100000" sy="100000" kx="0" ky="0" algn="bl" rotWithShape="0" blurRad="76200" dist="25400" dir="5400000">
              <a:srgbClr val="0A1F33">
                <a:alpha val="18000"/>
              </a:srgbClr>
            </a:outerShdw>
          </a:effectLst>
        </p:spPr>
      </p:sp>
      <p:sp>
        <p:nvSpPr>
          <p:cNvPr id="16" name="Text 14"/>
          <p:cNvSpPr/>
          <p:nvPr/>
        </p:nvSpPr>
        <p:spPr>
          <a:xfrm>
            <a:off x="868680" y="3867912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E2A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300" dirty="0"/>
          </a:p>
        </p:txBody>
      </p:sp>
      <p:sp>
        <p:nvSpPr>
          <p:cNvPr id="17" name="Text 15"/>
          <p:cNvSpPr/>
          <p:nvPr/>
        </p:nvSpPr>
        <p:spPr>
          <a:xfrm>
            <a:off x="1298448" y="3831336"/>
            <a:ext cx="44805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Tools as governed endpoints (Gateway)</a:t>
            </a:r>
            <a:endParaRPr lang="en-US" sz="1300" dirty="0"/>
          </a:p>
        </p:txBody>
      </p:sp>
      <p:sp>
        <p:nvSpPr>
          <p:cNvPr id="18" name="Shape 16"/>
          <p:cNvSpPr/>
          <p:nvPr/>
        </p:nvSpPr>
        <p:spPr>
          <a:xfrm>
            <a:off x="868680" y="4379976"/>
            <a:ext cx="310896" cy="310896"/>
          </a:xfrm>
          <a:prstGeom prst="ellipse">
            <a:avLst/>
          </a:prstGeom>
          <a:solidFill>
            <a:srgbClr val="02C39A"/>
          </a:solidFill>
          <a:ln/>
          <a:effectLst>
            <a:outerShdw sx="100000" sy="100000" kx="0" ky="0" algn="bl" rotWithShape="0" blurRad="76200" dist="25400" dir="5400000">
              <a:srgbClr val="0A1F33">
                <a:alpha val="18000"/>
              </a:srgbClr>
            </a:outerShdw>
          </a:effectLst>
        </p:spPr>
      </p:sp>
      <p:sp>
        <p:nvSpPr>
          <p:cNvPr id="19" name="Text 17"/>
          <p:cNvSpPr/>
          <p:nvPr/>
        </p:nvSpPr>
        <p:spPr>
          <a:xfrm>
            <a:off x="868680" y="4379976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E2A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300" dirty="0"/>
          </a:p>
        </p:txBody>
      </p:sp>
      <p:sp>
        <p:nvSpPr>
          <p:cNvPr id="20" name="Text 18"/>
          <p:cNvSpPr/>
          <p:nvPr/>
        </p:nvSpPr>
        <p:spPr>
          <a:xfrm>
            <a:off x="1298448" y="4343400"/>
            <a:ext cx="44805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Serverless agent runtime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868680" y="4892040"/>
            <a:ext cx="310896" cy="310896"/>
          </a:xfrm>
          <a:prstGeom prst="ellipse">
            <a:avLst/>
          </a:prstGeom>
          <a:solidFill>
            <a:srgbClr val="02C39A"/>
          </a:solidFill>
          <a:ln/>
          <a:effectLst>
            <a:outerShdw sx="100000" sy="100000" kx="0" ky="0" algn="bl" rotWithShape="0" blurRad="76200" dist="25400" dir="5400000">
              <a:srgbClr val="0A1F33">
                <a:alpha val="18000"/>
              </a:srgbClr>
            </a:outerShdw>
          </a:effectLst>
        </p:spPr>
      </p:sp>
      <p:sp>
        <p:nvSpPr>
          <p:cNvPr id="22" name="Text 20"/>
          <p:cNvSpPr/>
          <p:nvPr/>
        </p:nvSpPr>
        <p:spPr>
          <a:xfrm>
            <a:off x="868680" y="489204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E2A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300" dirty="0"/>
          </a:p>
        </p:txBody>
      </p:sp>
      <p:sp>
        <p:nvSpPr>
          <p:cNvPr id="23" name="Text 21"/>
          <p:cNvSpPr/>
          <p:nvPr/>
        </p:nvSpPr>
        <p:spPr>
          <a:xfrm>
            <a:off x="1298448" y="4855464"/>
            <a:ext cx="44805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Tracing &amp; observability</a:t>
            </a:r>
            <a:endParaRPr lang="en-US" sz="1300" dirty="0"/>
          </a:p>
        </p:txBody>
      </p:sp>
      <p:sp>
        <p:nvSpPr>
          <p:cNvPr id="24" name="Shape 22"/>
          <p:cNvSpPr/>
          <p:nvPr/>
        </p:nvSpPr>
        <p:spPr>
          <a:xfrm>
            <a:off x="6217920" y="1554480"/>
            <a:ext cx="5394960" cy="3977640"/>
          </a:xfrm>
          <a:prstGeom prst="roundRect">
            <a:avLst>
              <a:gd name="adj" fmla="val 2299"/>
            </a:avLst>
          </a:prstGeom>
          <a:solidFill>
            <a:srgbClr val="1E2E1A"/>
          </a:solidFill>
          <a:ln w="12700">
            <a:solidFill>
              <a:srgbClr val="D9E1E8"/>
            </a:solidFill>
            <a:prstDash val="solid"/>
          </a:ln>
          <a:effectLst>
            <a:outerShdw sx="100000" sy="100000" kx="0" ky="0" algn="bl" rotWithShape="0" blurRad="114300" dist="38100" dir="5400000">
              <a:srgbClr val="0A1F33">
                <a:alpha val="22000"/>
              </a:srgbClr>
            </a:outerShdw>
          </a:effectLst>
        </p:spPr>
      </p:sp>
      <p:sp>
        <p:nvSpPr>
          <p:cNvPr id="25" name="Shape 23"/>
          <p:cNvSpPr/>
          <p:nvPr/>
        </p:nvSpPr>
        <p:spPr>
          <a:xfrm>
            <a:off x="6217920" y="1554480"/>
            <a:ext cx="5394960" cy="3977640"/>
          </a:xfrm>
          <a:prstGeom prst="rect">
            <a:avLst/>
          </a:prstGeom>
          <a:ln w="15875">
            <a:solidFill>
              <a:srgbClr val="E8A13A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6519672" y="1828800"/>
            <a:ext cx="4937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100" kern="0" dirty="0">
                <a:solidFill>
                  <a:srgbClr val="E8A1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REGULATED LAST MILE — BUILT ALONGSIDE</a:t>
            </a:r>
            <a:endParaRPr lang="en-US" sz="1300" dirty="0"/>
          </a:p>
        </p:txBody>
      </p:sp>
      <p:sp>
        <p:nvSpPr>
          <p:cNvPr id="27" name="Shape 25"/>
          <p:cNvSpPr/>
          <p:nvPr/>
        </p:nvSpPr>
        <p:spPr>
          <a:xfrm>
            <a:off x="6519672" y="2395728"/>
            <a:ext cx="365760" cy="365760"/>
          </a:xfrm>
          <a:prstGeom prst="ellipse">
            <a:avLst/>
          </a:prstGeom>
          <a:solidFill>
            <a:srgbClr val="E8A13A"/>
          </a:solidFill>
          <a:ln/>
          <a:effectLst>
            <a:outerShdw sx="100000" sy="100000" kx="0" ky="0" algn="bl" rotWithShape="0" blurRad="76200" dist="25400" dir="5400000">
              <a:srgbClr val="0A1F33">
                <a:alpha val="18000"/>
              </a:srgbClr>
            </a:outerShdw>
          </a:effectLst>
        </p:spPr>
      </p:sp>
      <p:sp>
        <p:nvSpPr>
          <p:cNvPr id="28" name="Text 26"/>
          <p:cNvSpPr/>
          <p:nvPr/>
        </p:nvSpPr>
        <p:spPr>
          <a:xfrm>
            <a:off x="6519672" y="2395728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0E2A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⚙</a:t>
            </a:r>
            <a:endParaRPr lang="en-US" sz="1500" dirty="0"/>
          </a:p>
        </p:txBody>
      </p:sp>
      <p:sp>
        <p:nvSpPr>
          <p:cNvPr id="29" name="Text 27"/>
          <p:cNvSpPr/>
          <p:nvPr/>
        </p:nvSpPr>
        <p:spPr>
          <a:xfrm>
            <a:off x="7022592" y="2340864"/>
            <a:ext cx="4434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Fail-closed PII de-identification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7022592" y="2761488"/>
            <a:ext cx="4434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C9D6C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masking → no assessment, no draft. Ever.</a:t>
            </a:r>
            <a:endParaRPr lang="en-US" sz="1200" dirty="0"/>
          </a:p>
        </p:txBody>
      </p:sp>
      <p:sp>
        <p:nvSpPr>
          <p:cNvPr id="31" name="Shape 29"/>
          <p:cNvSpPr/>
          <p:nvPr/>
        </p:nvSpPr>
        <p:spPr>
          <a:xfrm>
            <a:off x="6519672" y="3328416"/>
            <a:ext cx="365760" cy="365760"/>
          </a:xfrm>
          <a:prstGeom prst="ellipse">
            <a:avLst/>
          </a:prstGeom>
          <a:solidFill>
            <a:srgbClr val="E8A13A"/>
          </a:solidFill>
          <a:ln/>
          <a:effectLst>
            <a:outerShdw sx="100000" sy="100000" kx="0" ky="0" algn="bl" rotWithShape="0" blurRad="76200" dist="25400" dir="5400000">
              <a:srgbClr val="0A1F33">
                <a:alpha val="18000"/>
              </a:srgbClr>
            </a:outerShdw>
          </a:effectLst>
        </p:spPr>
      </p:sp>
      <p:sp>
        <p:nvSpPr>
          <p:cNvPr id="32" name="Text 30"/>
          <p:cNvSpPr/>
          <p:nvPr/>
        </p:nvSpPr>
        <p:spPr>
          <a:xfrm>
            <a:off x="6519672" y="3328416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0E2A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⚙</a:t>
            </a:r>
            <a:endParaRPr lang="en-US" sz="1500" dirty="0"/>
          </a:p>
        </p:txBody>
      </p:sp>
      <p:sp>
        <p:nvSpPr>
          <p:cNvPr id="33" name="Text 31"/>
          <p:cNvSpPr/>
          <p:nvPr/>
        </p:nvSpPr>
        <p:spPr>
          <a:xfrm>
            <a:off x="7022592" y="3273552"/>
            <a:ext cx="4434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Human sign-off gate (separation of duties)</a:t>
            </a:r>
            <a:endParaRPr lang="en-US" sz="1400" dirty="0"/>
          </a:p>
        </p:txBody>
      </p:sp>
      <p:sp>
        <p:nvSpPr>
          <p:cNvPr id="34" name="Text 32"/>
          <p:cNvSpPr/>
          <p:nvPr/>
        </p:nvSpPr>
        <p:spPr>
          <a:xfrm>
            <a:off x="7022592" y="3694176"/>
            <a:ext cx="4434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C9D6C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different qualified aid officer, single-use token.</a:t>
            </a:r>
            <a:endParaRPr lang="en-US" sz="1200" dirty="0"/>
          </a:p>
        </p:txBody>
      </p:sp>
      <p:sp>
        <p:nvSpPr>
          <p:cNvPr id="35" name="Shape 33"/>
          <p:cNvSpPr/>
          <p:nvPr/>
        </p:nvSpPr>
        <p:spPr>
          <a:xfrm>
            <a:off x="6519672" y="4261104"/>
            <a:ext cx="365760" cy="365760"/>
          </a:xfrm>
          <a:prstGeom prst="ellipse">
            <a:avLst/>
          </a:prstGeom>
          <a:solidFill>
            <a:srgbClr val="E8A13A"/>
          </a:solidFill>
          <a:ln/>
          <a:effectLst>
            <a:outerShdw sx="100000" sy="100000" kx="0" ky="0" algn="bl" rotWithShape="0" blurRad="76200" dist="25400" dir="5400000">
              <a:srgbClr val="0A1F33">
                <a:alpha val="18000"/>
              </a:srgbClr>
            </a:outerShdw>
          </a:effectLst>
        </p:spPr>
      </p:sp>
      <p:sp>
        <p:nvSpPr>
          <p:cNvPr id="36" name="Text 34"/>
          <p:cNvSpPr/>
          <p:nvPr/>
        </p:nvSpPr>
        <p:spPr>
          <a:xfrm>
            <a:off x="6519672" y="4261104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0E2A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⚙</a:t>
            </a:r>
            <a:endParaRPr lang="en-US" sz="1500" dirty="0"/>
          </a:p>
        </p:txBody>
      </p:sp>
      <p:sp>
        <p:nvSpPr>
          <p:cNvPr id="37" name="Text 35"/>
          <p:cNvSpPr/>
          <p:nvPr/>
        </p:nvSpPr>
        <p:spPr>
          <a:xfrm>
            <a:off x="7022592" y="4206240"/>
            <a:ext cx="4434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Immutable WORM audit</a:t>
            </a:r>
            <a:endParaRPr lang="en-US" sz="1400" dirty="0"/>
          </a:p>
        </p:txBody>
      </p:sp>
      <p:sp>
        <p:nvSpPr>
          <p:cNvPr id="38" name="Text 36"/>
          <p:cNvSpPr/>
          <p:nvPr/>
        </p:nvSpPr>
        <p:spPr>
          <a:xfrm>
            <a:off x="7022592" y="4626864"/>
            <a:ext cx="4434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C9D6C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Append-only + Object Lock; writer can't tamper.</a:t>
            </a:r>
            <a:endParaRPr lang="en-US" sz="1200" dirty="0"/>
          </a:p>
        </p:txBody>
      </p:sp>
      <p:sp>
        <p:nvSpPr>
          <p:cNvPr id="39" name="Text 37"/>
          <p:cNvSpPr/>
          <p:nvPr/>
        </p:nvSpPr>
        <p:spPr>
          <a:xfrm>
            <a:off x="566928" y="5669280"/>
            <a:ext cx="11064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50" i="1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Governed agentic AI on AWS-native services, plus the three controls regulated customers need that AgentCore doesn't ship. A stronger — and more honest — story than “we built our own platform.”</a:t>
            </a:r>
            <a:endParaRPr lang="en-US" sz="1350" dirty="0"/>
          </a:p>
        </p:txBody>
      </p:sp>
      <p:sp>
        <p:nvSpPr>
          <p:cNvPr id="40" name="Text 38"/>
          <p:cNvSpPr/>
          <p:nvPr/>
        </p:nvSpPr>
        <p:spPr>
          <a:xfrm>
            <a:off x="548640" y="6455664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6B7A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Governed Agentic AI · Amazon Bedrock AgentCore</a:t>
            </a:r>
            <a:endParaRPr lang="en-US" sz="800" dirty="0"/>
          </a:p>
        </p:txBody>
      </p:sp>
      <p:sp>
        <p:nvSpPr>
          <p:cNvPr id="41" name="Text 39"/>
          <p:cNvSpPr/>
          <p:nvPr/>
        </p:nvSpPr>
        <p:spPr>
          <a:xfrm>
            <a:off x="11338560" y="6419088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A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04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4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256032"/>
            <a:ext cx="10972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HERO USE CASE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4114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700" b="1" dirty="0">
                <a:solidFill>
                  <a:srgbClr val="1A27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Financial aid: awarding Pell &amp; Title IV aid from a FAFSA</a:t>
            </a:r>
            <a:endParaRPr lang="en-US" sz="2700" dirty="0"/>
          </a:p>
        </p:txBody>
      </p:sp>
      <p:sp>
        <p:nvSpPr>
          <p:cNvPr id="4" name="Shape 2"/>
          <p:cNvSpPr/>
          <p:nvPr/>
        </p:nvSpPr>
        <p:spPr>
          <a:xfrm>
            <a:off x="566928" y="1691640"/>
            <a:ext cx="1700784" cy="1234440"/>
          </a:xfrm>
          <a:prstGeom prst="roundRect">
            <a:avLst>
              <a:gd name="adj" fmla="val 5926"/>
            </a:avLst>
          </a:prstGeom>
          <a:solidFill>
            <a:srgbClr val="1C7293"/>
          </a:solidFill>
          <a:ln/>
          <a:effectLst>
            <a:outerShdw sx="100000" sy="100000" kx="0" ky="0" algn="bl" rotWithShape="0" blurRad="76200" dist="25400" dir="5400000">
              <a:srgbClr val="0A1F33">
                <a:alpha val="16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566928" y="1691640"/>
            <a:ext cx="1700784" cy="123444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Intake the</a:t>
            </a:r>
            <a:endParaRPr lang="en-US" sz="1150" dirty="0"/>
          </a:p>
          <a:p>
            <a:pPr algn="ctr" indent="0" marL="0">
              <a:lnSpc>
                <a:spcPct val="100000"/>
              </a:lnSpc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FAFSA / ISIR</a:t>
            </a:r>
            <a:endParaRPr lang="en-US" sz="1150" dirty="0"/>
          </a:p>
        </p:txBody>
      </p:sp>
      <p:sp>
        <p:nvSpPr>
          <p:cNvPr id="6" name="Text 4"/>
          <p:cNvSpPr/>
          <p:nvPr/>
        </p:nvSpPr>
        <p:spPr>
          <a:xfrm>
            <a:off x="2249424" y="1691640"/>
            <a:ext cx="18288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6B7A8A"/>
                </a:solidFill>
              </a:rPr>
              <a:t>›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2404872" y="1691640"/>
            <a:ext cx="1700784" cy="1234440"/>
          </a:xfrm>
          <a:prstGeom prst="roundRect">
            <a:avLst>
              <a:gd name="adj" fmla="val 5926"/>
            </a:avLst>
          </a:prstGeom>
          <a:solidFill>
            <a:srgbClr val="1C7293"/>
          </a:solidFill>
          <a:ln/>
          <a:effectLst>
            <a:outerShdw sx="100000" sy="100000" kx="0" ky="0" algn="bl" rotWithShape="0" blurRad="76200" dist="25400" dir="5400000">
              <a:srgbClr val="0A1F33">
                <a:alpha val="16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2404872" y="1691640"/>
            <a:ext cx="1700784" cy="123444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De-identify</a:t>
            </a:r>
            <a:endParaRPr lang="en-US" sz="1150" dirty="0"/>
          </a:p>
          <a:p>
            <a:pPr algn="ctr" indent="0" marL="0">
              <a:lnSpc>
                <a:spcPct val="100000"/>
              </a:lnSpc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PII</a:t>
            </a:r>
            <a:endParaRPr lang="en-US" sz="1150" dirty="0"/>
          </a:p>
        </p:txBody>
      </p:sp>
      <p:sp>
        <p:nvSpPr>
          <p:cNvPr id="9" name="Text 7"/>
          <p:cNvSpPr/>
          <p:nvPr/>
        </p:nvSpPr>
        <p:spPr>
          <a:xfrm>
            <a:off x="4087368" y="1691640"/>
            <a:ext cx="18288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6B7A8A"/>
                </a:solidFill>
              </a:rPr>
              <a:t>›</a:t>
            </a:r>
            <a:endParaRPr lang="en-US" sz="1600" dirty="0"/>
          </a:p>
        </p:txBody>
      </p:sp>
      <p:sp>
        <p:nvSpPr>
          <p:cNvPr id="10" name="Shape 8"/>
          <p:cNvSpPr/>
          <p:nvPr/>
        </p:nvSpPr>
        <p:spPr>
          <a:xfrm>
            <a:off x="4242816" y="1691640"/>
            <a:ext cx="1700784" cy="1234440"/>
          </a:xfrm>
          <a:prstGeom prst="roundRect">
            <a:avLst>
              <a:gd name="adj" fmla="val 5926"/>
            </a:avLst>
          </a:prstGeom>
          <a:solidFill>
            <a:srgbClr val="1C7293"/>
          </a:solidFill>
          <a:ln/>
          <a:effectLst>
            <a:outerShdw sx="100000" sy="100000" kx="0" ky="0" algn="bl" rotWithShape="0" blurRad="76200" dist="25400" dir="5400000">
              <a:srgbClr val="0A1F33">
                <a:alpha val="16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4242816" y="1691640"/>
            <a:ext cx="1700784" cy="123444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Assess Pell,</a:t>
            </a:r>
            <a:endParaRPr lang="en-US" sz="1150" dirty="0"/>
          </a:p>
          <a:p>
            <a:pPr algn="ctr" indent="0" marL="0">
              <a:lnSpc>
                <a:spcPct val="100000"/>
              </a:lnSpc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SAP &amp; verification</a:t>
            </a:r>
            <a:endParaRPr lang="en-US" sz="1150" dirty="0"/>
          </a:p>
        </p:txBody>
      </p:sp>
      <p:sp>
        <p:nvSpPr>
          <p:cNvPr id="12" name="Text 10"/>
          <p:cNvSpPr/>
          <p:nvPr/>
        </p:nvSpPr>
        <p:spPr>
          <a:xfrm>
            <a:off x="5925312" y="1691640"/>
            <a:ext cx="18288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6B7A8A"/>
                </a:solidFill>
              </a:rPr>
              <a:t>›</a:t>
            </a:r>
            <a:endParaRPr lang="en-US" sz="1600" dirty="0"/>
          </a:p>
        </p:txBody>
      </p:sp>
      <p:sp>
        <p:nvSpPr>
          <p:cNvPr id="13" name="Shape 11"/>
          <p:cNvSpPr/>
          <p:nvPr/>
        </p:nvSpPr>
        <p:spPr>
          <a:xfrm>
            <a:off x="6080760" y="1691640"/>
            <a:ext cx="1700784" cy="1234440"/>
          </a:xfrm>
          <a:prstGeom prst="roundRect">
            <a:avLst>
              <a:gd name="adj" fmla="val 5926"/>
            </a:avLst>
          </a:prstGeom>
          <a:solidFill>
            <a:srgbClr val="1C7293"/>
          </a:solidFill>
          <a:ln/>
          <a:effectLst>
            <a:outerShdw sx="100000" sy="100000" kx="0" ky="0" algn="bl" rotWithShape="0" blurRad="76200" dist="25400" dir="5400000">
              <a:srgbClr val="0A1F33">
                <a:alpha val="16000"/>
              </a:srgbClr>
            </a:outerShdw>
          </a:effectLst>
        </p:spPr>
      </p:sp>
      <p:sp>
        <p:nvSpPr>
          <p:cNvPr id="14" name="Text 12"/>
          <p:cNvSpPr/>
          <p:nvPr/>
        </p:nvSpPr>
        <p:spPr>
          <a:xfrm>
            <a:off x="6080760" y="1691640"/>
            <a:ext cx="1700784" cy="123444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Draft the</a:t>
            </a:r>
            <a:endParaRPr lang="en-US" sz="1150" dirty="0"/>
          </a:p>
          <a:p>
            <a:pPr algn="ctr" indent="0" marL="0">
              <a:lnSpc>
                <a:spcPct val="100000"/>
              </a:lnSpc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award notice</a:t>
            </a:r>
            <a:endParaRPr lang="en-US" sz="1150" dirty="0"/>
          </a:p>
        </p:txBody>
      </p:sp>
      <p:sp>
        <p:nvSpPr>
          <p:cNvPr id="15" name="Text 13"/>
          <p:cNvSpPr/>
          <p:nvPr/>
        </p:nvSpPr>
        <p:spPr>
          <a:xfrm>
            <a:off x="7763256" y="1691640"/>
            <a:ext cx="18288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6B7A8A"/>
                </a:solidFill>
              </a:rPr>
              <a:t>›</a:t>
            </a:r>
            <a:endParaRPr lang="en-US" sz="1600" dirty="0"/>
          </a:p>
        </p:txBody>
      </p:sp>
      <p:sp>
        <p:nvSpPr>
          <p:cNvPr id="16" name="Shape 14"/>
          <p:cNvSpPr/>
          <p:nvPr/>
        </p:nvSpPr>
        <p:spPr>
          <a:xfrm>
            <a:off x="7918704" y="1691640"/>
            <a:ext cx="1700784" cy="1234440"/>
          </a:xfrm>
          <a:prstGeom prst="roundRect">
            <a:avLst>
              <a:gd name="adj" fmla="val 5926"/>
            </a:avLst>
          </a:prstGeom>
          <a:solidFill>
            <a:srgbClr val="E8A13A"/>
          </a:solidFill>
          <a:ln/>
          <a:effectLst>
            <a:outerShdw sx="100000" sy="100000" kx="0" ky="0" algn="bl" rotWithShape="0" blurRad="76200" dist="25400" dir="5400000">
              <a:srgbClr val="0A1F33">
                <a:alpha val="16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7918704" y="1691640"/>
            <a:ext cx="1700784" cy="123444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Aid-officer</a:t>
            </a:r>
            <a:endParaRPr lang="en-US" sz="1150" dirty="0"/>
          </a:p>
          <a:p>
            <a:pPr algn="ctr" indent="0" marL="0">
              <a:lnSpc>
                <a:spcPct val="100000"/>
              </a:lnSpc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sign-off</a:t>
            </a:r>
            <a:endParaRPr lang="en-US" sz="1150" dirty="0"/>
          </a:p>
        </p:txBody>
      </p:sp>
      <p:sp>
        <p:nvSpPr>
          <p:cNvPr id="18" name="Text 16"/>
          <p:cNvSpPr/>
          <p:nvPr/>
        </p:nvSpPr>
        <p:spPr>
          <a:xfrm>
            <a:off x="9601200" y="1691640"/>
            <a:ext cx="18288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6B7A8A"/>
                </a:solidFill>
              </a:rPr>
              <a:t>›</a:t>
            </a:r>
            <a:endParaRPr lang="en-US" sz="1600" dirty="0"/>
          </a:p>
        </p:txBody>
      </p:sp>
      <p:sp>
        <p:nvSpPr>
          <p:cNvPr id="19" name="Shape 17"/>
          <p:cNvSpPr/>
          <p:nvPr/>
        </p:nvSpPr>
        <p:spPr>
          <a:xfrm>
            <a:off x="9756648" y="1691640"/>
            <a:ext cx="1700784" cy="1234440"/>
          </a:xfrm>
          <a:prstGeom prst="roundRect">
            <a:avLst>
              <a:gd name="adj" fmla="val 5926"/>
            </a:avLst>
          </a:prstGeom>
          <a:solidFill>
            <a:srgbClr val="0E2A47"/>
          </a:solidFill>
          <a:ln/>
          <a:effectLst>
            <a:outerShdw sx="100000" sy="100000" kx="0" ky="0" algn="bl" rotWithShape="0" blurRad="76200" dist="25400" dir="5400000">
              <a:srgbClr val="0A1F33">
                <a:alpha val="16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9756648" y="1691640"/>
            <a:ext cx="1700784" cy="123444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Commit the</a:t>
            </a:r>
            <a:endParaRPr lang="en-US" sz="1150" dirty="0"/>
          </a:p>
          <a:p>
            <a:pPr algn="ctr" indent="0" marL="0">
              <a:lnSpc>
                <a:spcPct val="100000"/>
              </a:lnSpc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award</a:t>
            </a:r>
            <a:endParaRPr lang="en-US" sz="1150" dirty="0"/>
          </a:p>
        </p:txBody>
      </p:sp>
      <p:sp>
        <p:nvSpPr>
          <p:cNvPr id="21" name="Shape 19"/>
          <p:cNvSpPr/>
          <p:nvPr/>
        </p:nvSpPr>
        <p:spPr>
          <a:xfrm>
            <a:off x="566928" y="3383280"/>
            <a:ext cx="11064240" cy="2148840"/>
          </a:xfrm>
          <a:prstGeom prst="roundRect">
            <a:avLst>
              <a:gd name="adj" fmla="val 4255"/>
            </a:avLst>
          </a:prstGeom>
          <a:solidFill>
            <a:srgbClr val="FFFFFF"/>
          </a:solidFill>
          <a:ln w="12700">
            <a:solidFill>
              <a:srgbClr val="D9E1E8"/>
            </a:solidFill>
            <a:prstDash val="solid"/>
          </a:ln>
          <a:effectLst>
            <a:outerShdw sx="100000" sy="100000" kx="0" ky="0" algn="bl" rotWithShape="0" blurRad="114300" dist="38100" dir="5400000">
              <a:srgbClr val="0A1F33">
                <a:alpha val="22000"/>
              </a:srgbClr>
            </a:outerShdw>
          </a:effectLst>
        </p:spPr>
      </p:sp>
      <p:sp>
        <p:nvSpPr>
          <p:cNvPr id="22" name="Shape 20"/>
          <p:cNvSpPr/>
          <p:nvPr/>
        </p:nvSpPr>
        <p:spPr>
          <a:xfrm>
            <a:off x="960120" y="3794760"/>
            <a:ext cx="822960" cy="822960"/>
          </a:xfrm>
          <a:prstGeom prst="ellipse">
            <a:avLst/>
          </a:prstGeom>
          <a:solidFill>
            <a:srgbClr val="0E2A47"/>
          </a:solidFill>
          <a:ln/>
          <a:effectLst>
            <a:outerShdw sx="100000" sy="100000" kx="0" ky="0" algn="bl" rotWithShape="0" blurRad="76200" dist="25400" dir="5400000">
              <a:srgbClr val="0A1F33">
                <a:alpha val="18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960120" y="3794760"/>
            <a:ext cx="8229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02C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§</a:t>
            </a:r>
            <a:endParaRPr lang="en-US" sz="3000" dirty="0"/>
          </a:p>
        </p:txBody>
      </p:sp>
      <p:sp>
        <p:nvSpPr>
          <p:cNvPr id="24" name="Text 22"/>
          <p:cNvSpPr/>
          <p:nvPr/>
        </p:nvSpPr>
        <p:spPr>
          <a:xfrm>
            <a:off x="2057400" y="3675888"/>
            <a:ext cx="9326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E2A4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one rule that drives the entire security design</a:t>
            </a:r>
            <a:endParaRPr lang="en-US" sz="1800" dirty="0"/>
          </a:p>
        </p:txBody>
      </p:sp>
      <p:sp>
        <p:nvSpPr>
          <p:cNvPr id="25" name="Text 23"/>
          <p:cNvSpPr/>
          <p:nvPr/>
        </p:nvSpPr>
        <p:spPr>
          <a:xfrm>
            <a:off x="2057400" y="4160520"/>
            <a:ext cx="937260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1400" b="1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Under Title IV and program regulations, a qualified financial-aid officer makes and commits the award determination — applying professional judgment, SAP appeals, and verification. </a:t>
            </a:r>
            <a:pPr indent="0" marL="0">
              <a:lnSpc>
                <a:spcPct val="116000"/>
              </a:lnSpc>
              <a:buNone/>
            </a:pPr>
            <a:r>
              <a:rPr lang="en-US" sz="1400" dirty="0">
                <a:solidFill>
                  <a:srgbClr val="3443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agent intakes, de-identifies, screens, and drafts — it never self-adjudicates. Everything else in this architecture exists to enforce that one sentence.</a:t>
            </a:r>
            <a:endParaRPr lang="en-US" sz="1400" dirty="0"/>
          </a:p>
        </p:txBody>
      </p:sp>
      <p:sp>
        <p:nvSpPr>
          <p:cNvPr id="26" name="Text 24"/>
          <p:cNvSpPr/>
          <p:nvPr/>
        </p:nvSpPr>
        <p:spPr>
          <a:xfrm>
            <a:off x="548640" y="6455664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6B7A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Governed Agentic AI · Amazon Bedrock AgentCore</a:t>
            </a:r>
            <a:endParaRPr lang="en-US" sz="800" dirty="0"/>
          </a:p>
        </p:txBody>
      </p:sp>
      <p:sp>
        <p:nvSpPr>
          <p:cNvPr id="27" name="Text 25"/>
          <p:cNvSpPr/>
          <p:nvPr/>
        </p:nvSpPr>
        <p:spPr>
          <a:xfrm>
            <a:off x="11338560" y="6419088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A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05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4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256032"/>
            <a:ext cx="10972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ARCHITECTURE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4114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700" b="1" dirty="0">
                <a:solidFill>
                  <a:srgbClr val="1A27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Six controls native, three built alongside</a:t>
            </a:r>
            <a:endParaRPr lang="en-US" sz="2700" dirty="0"/>
          </a:p>
        </p:txBody>
      </p:sp>
      <p:sp>
        <p:nvSpPr>
          <p:cNvPr id="4" name="Shape 2"/>
          <p:cNvSpPr/>
          <p:nvPr/>
        </p:nvSpPr>
        <p:spPr>
          <a:xfrm>
            <a:off x="566928" y="1417320"/>
            <a:ext cx="11064240" cy="46177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5" name="Shape 3"/>
          <p:cNvSpPr/>
          <p:nvPr/>
        </p:nvSpPr>
        <p:spPr>
          <a:xfrm>
            <a:off x="694944" y="1517904"/>
            <a:ext cx="1234440" cy="292608"/>
          </a:xfrm>
          <a:prstGeom prst="roundRect">
            <a:avLst>
              <a:gd name="adj" fmla="val 50000"/>
            </a:avLst>
          </a:prstGeom>
          <a:solidFill>
            <a:srgbClr val="02C39A"/>
          </a:solidFill>
          <a:ln/>
        </p:spPr>
      </p:sp>
      <p:sp>
        <p:nvSpPr>
          <p:cNvPr id="6" name="Text 4"/>
          <p:cNvSpPr/>
          <p:nvPr/>
        </p:nvSpPr>
        <p:spPr>
          <a:xfrm>
            <a:off x="694944" y="1517904"/>
            <a:ext cx="12344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0E2A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NATIVE</a:t>
            </a:r>
            <a:endParaRPr lang="en-US" sz="1050" dirty="0"/>
          </a:p>
        </p:txBody>
      </p:sp>
      <p:sp>
        <p:nvSpPr>
          <p:cNvPr id="7" name="Text 5"/>
          <p:cNvSpPr/>
          <p:nvPr/>
        </p:nvSpPr>
        <p:spPr>
          <a:xfrm>
            <a:off x="2075688" y="1417320"/>
            <a:ext cx="3566160" cy="4617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Verified human + agent identity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5733288" y="1417320"/>
            <a:ext cx="5715000" cy="4617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453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AgentCore Identity — inbound JWT (Cognito / institution IdP)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566928" y="1933956"/>
            <a:ext cx="11064240" cy="461772"/>
          </a:xfrm>
          <a:prstGeom prst="rect">
            <a:avLst/>
          </a:prstGeom>
          <a:solidFill>
            <a:srgbClr val="ECF1F5"/>
          </a:solidFill>
          <a:ln/>
        </p:spPr>
      </p:sp>
      <p:sp>
        <p:nvSpPr>
          <p:cNvPr id="10" name="Shape 8"/>
          <p:cNvSpPr/>
          <p:nvPr/>
        </p:nvSpPr>
        <p:spPr>
          <a:xfrm>
            <a:off x="694944" y="2034540"/>
            <a:ext cx="1234440" cy="292608"/>
          </a:xfrm>
          <a:prstGeom prst="roundRect">
            <a:avLst>
              <a:gd name="adj" fmla="val 50000"/>
            </a:avLst>
          </a:prstGeom>
          <a:solidFill>
            <a:srgbClr val="02C39A"/>
          </a:solidFill>
          <a:ln/>
        </p:spPr>
      </p:sp>
      <p:sp>
        <p:nvSpPr>
          <p:cNvPr id="11" name="Text 9"/>
          <p:cNvSpPr/>
          <p:nvPr/>
        </p:nvSpPr>
        <p:spPr>
          <a:xfrm>
            <a:off x="694944" y="2034540"/>
            <a:ext cx="12344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0E2A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NATIVE</a:t>
            </a:r>
            <a:endParaRPr lang="en-US" sz="1050" dirty="0"/>
          </a:p>
        </p:txBody>
      </p:sp>
      <p:sp>
        <p:nvSpPr>
          <p:cNvPr id="12" name="Text 10"/>
          <p:cNvSpPr/>
          <p:nvPr/>
        </p:nvSpPr>
        <p:spPr>
          <a:xfrm>
            <a:off x="2075688" y="1933956"/>
            <a:ext cx="3566160" cy="4617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Deny-by-default authorization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5733288" y="1933956"/>
            <a:ext cx="5715000" cy="4617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453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AgentCore Policy (Cedar) — default-deny + forbid-wins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566928" y="2450592"/>
            <a:ext cx="11064240" cy="46177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15" name="Shape 13"/>
          <p:cNvSpPr/>
          <p:nvPr/>
        </p:nvSpPr>
        <p:spPr>
          <a:xfrm>
            <a:off x="694944" y="2551176"/>
            <a:ext cx="1234440" cy="292608"/>
          </a:xfrm>
          <a:prstGeom prst="roundRect">
            <a:avLst>
              <a:gd name="adj" fmla="val 50000"/>
            </a:avLst>
          </a:prstGeom>
          <a:solidFill>
            <a:srgbClr val="02C39A"/>
          </a:solidFill>
          <a:ln/>
        </p:spPr>
      </p:sp>
      <p:sp>
        <p:nvSpPr>
          <p:cNvPr id="16" name="Text 14"/>
          <p:cNvSpPr/>
          <p:nvPr/>
        </p:nvSpPr>
        <p:spPr>
          <a:xfrm>
            <a:off x="694944" y="2551176"/>
            <a:ext cx="12344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0E2A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NATIVE</a:t>
            </a:r>
            <a:endParaRPr lang="en-US" sz="1050" dirty="0"/>
          </a:p>
        </p:txBody>
      </p:sp>
      <p:sp>
        <p:nvSpPr>
          <p:cNvPr id="17" name="Text 15"/>
          <p:cNvSpPr/>
          <p:nvPr/>
        </p:nvSpPr>
        <p:spPr>
          <a:xfrm>
            <a:off x="2075688" y="2450592"/>
            <a:ext cx="3566160" cy="4617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Least-privilege intersection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5733288" y="2450592"/>
            <a:ext cx="5715000" cy="4617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453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Cedar principal = OAuthUser; group claim + tool-parameter conditions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566928" y="2967228"/>
            <a:ext cx="11064240" cy="461772"/>
          </a:xfrm>
          <a:prstGeom prst="rect">
            <a:avLst/>
          </a:prstGeom>
          <a:solidFill>
            <a:srgbClr val="ECF1F5"/>
          </a:solidFill>
          <a:ln/>
        </p:spPr>
      </p:sp>
      <p:sp>
        <p:nvSpPr>
          <p:cNvPr id="20" name="Shape 18"/>
          <p:cNvSpPr/>
          <p:nvPr/>
        </p:nvSpPr>
        <p:spPr>
          <a:xfrm>
            <a:off x="694944" y="3067812"/>
            <a:ext cx="1234440" cy="292608"/>
          </a:xfrm>
          <a:prstGeom prst="roundRect">
            <a:avLst>
              <a:gd name="adj" fmla="val 50000"/>
            </a:avLst>
          </a:prstGeom>
          <a:solidFill>
            <a:srgbClr val="02C39A"/>
          </a:solidFill>
          <a:ln/>
        </p:spPr>
      </p:sp>
      <p:sp>
        <p:nvSpPr>
          <p:cNvPr id="21" name="Text 19"/>
          <p:cNvSpPr/>
          <p:nvPr/>
        </p:nvSpPr>
        <p:spPr>
          <a:xfrm>
            <a:off x="694944" y="3067812"/>
            <a:ext cx="12344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0E2A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NATIVE</a:t>
            </a:r>
            <a:endParaRPr lang="en-US" sz="1050" dirty="0"/>
          </a:p>
        </p:txBody>
      </p:sp>
      <p:sp>
        <p:nvSpPr>
          <p:cNvPr id="22" name="Text 20"/>
          <p:cNvSpPr/>
          <p:nvPr/>
        </p:nvSpPr>
        <p:spPr>
          <a:xfrm>
            <a:off x="2075688" y="2967228"/>
            <a:ext cx="3566160" cy="4617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Tools as governed endpoints</a:t>
            </a:r>
            <a:endParaRPr lang="en-US" sz="1300" dirty="0"/>
          </a:p>
        </p:txBody>
      </p:sp>
      <p:sp>
        <p:nvSpPr>
          <p:cNvPr id="23" name="Text 21"/>
          <p:cNvSpPr/>
          <p:nvPr/>
        </p:nvSpPr>
        <p:spPr>
          <a:xfrm>
            <a:off x="5733288" y="2967228"/>
            <a:ext cx="5715000" cy="4617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453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AgentCore Gateway — Lambda → MCP tools; every call passes Policy</a:t>
            </a:r>
            <a:endParaRPr lang="en-US" sz="1200" dirty="0"/>
          </a:p>
        </p:txBody>
      </p:sp>
      <p:sp>
        <p:nvSpPr>
          <p:cNvPr id="24" name="Shape 22"/>
          <p:cNvSpPr/>
          <p:nvPr/>
        </p:nvSpPr>
        <p:spPr>
          <a:xfrm>
            <a:off x="566928" y="3483864"/>
            <a:ext cx="11064240" cy="46177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25" name="Shape 23"/>
          <p:cNvSpPr/>
          <p:nvPr/>
        </p:nvSpPr>
        <p:spPr>
          <a:xfrm>
            <a:off x="694944" y="3584448"/>
            <a:ext cx="1234440" cy="292608"/>
          </a:xfrm>
          <a:prstGeom prst="roundRect">
            <a:avLst>
              <a:gd name="adj" fmla="val 50000"/>
            </a:avLst>
          </a:prstGeom>
          <a:solidFill>
            <a:srgbClr val="02C39A"/>
          </a:solidFill>
          <a:ln/>
        </p:spPr>
      </p:sp>
      <p:sp>
        <p:nvSpPr>
          <p:cNvPr id="26" name="Text 24"/>
          <p:cNvSpPr/>
          <p:nvPr/>
        </p:nvSpPr>
        <p:spPr>
          <a:xfrm>
            <a:off x="694944" y="3584448"/>
            <a:ext cx="12344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0E2A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NATIVE</a:t>
            </a:r>
            <a:endParaRPr lang="en-US" sz="1050" dirty="0"/>
          </a:p>
        </p:txBody>
      </p:sp>
      <p:sp>
        <p:nvSpPr>
          <p:cNvPr id="27" name="Text 25"/>
          <p:cNvSpPr/>
          <p:nvPr/>
        </p:nvSpPr>
        <p:spPr>
          <a:xfrm>
            <a:off x="2075688" y="3483864"/>
            <a:ext cx="3566160" cy="4617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 hosting / runtime</a:t>
            </a:r>
            <a:endParaRPr lang="en-US" sz="1300" dirty="0"/>
          </a:p>
        </p:txBody>
      </p:sp>
      <p:sp>
        <p:nvSpPr>
          <p:cNvPr id="28" name="Text 26"/>
          <p:cNvSpPr/>
          <p:nvPr/>
        </p:nvSpPr>
        <p:spPr>
          <a:xfrm>
            <a:off x="5733288" y="3483864"/>
            <a:ext cx="5715000" cy="4617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453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AgentCore Runtime — serverless, session-isolated</a:t>
            </a:r>
            <a:endParaRPr lang="en-US" sz="1200" dirty="0"/>
          </a:p>
        </p:txBody>
      </p:sp>
      <p:sp>
        <p:nvSpPr>
          <p:cNvPr id="29" name="Shape 27"/>
          <p:cNvSpPr/>
          <p:nvPr/>
        </p:nvSpPr>
        <p:spPr>
          <a:xfrm>
            <a:off x="566928" y="4000500"/>
            <a:ext cx="11064240" cy="461772"/>
          </a:xfrm>
          <a:prstGeom prst="rect">
            <a:avLst/>
          </a:prstGeom>
          <a:solidFill>
            <a:srgbClr val="ECF1F5"/>
          </a:solidFill>
          <a:ln/>
        </p:spPr>
      </p:sp>
      <p:sp>
        <p:nvSpPr>
          <p:cNvPr id="30" name="Shape 28"/>
          <p:cNvSpPr/>
          <p:nvPr/>
        </p:nvSpPr>
        <p:spPr>
          <a:xfrm>
            <a:off x="694944" y="4101084"/>
            <a:ext cx="1234440" cy="292608"/>
          </a:xfrm>
          <a:prstGeom prst="roundRect">
            <a:avLst>
              <a:gd name="adj" fmla="val 50000"/>
            </a:avLst>
          </a:prstGeom>
          <a:solidFill>
            <a:srgbClr val="02C39A"/>
          </a:solidFill>
          <a:ln/>
        </p:spPr>
      </p:sp>
      <p:sp>
        <p:nvSpPr>
          <p:cNvPr id="31" name="Text 29"/>
          <p:cNvSpPr/>
          <p:nvPr/>
        </p:nvSpPr>
        <p:spPr>
          <a:xfrm>
            <a:off x="694944" y="4101084"/>
            <a:ext cx="12344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0E2A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NATIVE</a:t>
            </a:r>
            <a:endParaRPr lang="en-US" sz="1050" dirty="0"/>
          </a:p>
        </p:txBody>
      </p:sp>
      <p:sp>
        <p:nvSpPr>
          <p:cNvPr id="32" name="Text 30"/>
          <p:cNvSpPr/>
          <p:nvPr/>
        </p:nvSpPr>
        <p:spPr>
          <a:xfrm>
            <a:off x="2075688" y="4000500"/>
            <a:ext cx="3566160" cy="4617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Tracing / observability</a:t>
            </a:r>
            <a:endParaRPr lang="en-US" sz="1300" dirty="0"/>
          </a:p>
        </p:txBody>
      </p:sp>
      <p:sp>
        <p:nvSpPr>
          <p:cNvPr id="33" name="Text 31"/>
          <p:cNvSpPr/>
          <p:nvPr/>
        </p:nvSpPr>
        <p:spPr>
          <a:xfrm>
            <a:off x="5733288" y="4000500"/>
            <a:ext cx="5715000" cy="4617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453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AgentCore Observability — OpenTelemetry spans</a:t>
            </a:r>
            <a:endParaRPr lang="en-US" sz="1200" dirty="0"/>
          </a:p>
        </p:txBody>
      </p:sp>
      <p:sp>
        <p:nvSpPr>
          <p:cNvPr id="34" name="Shape 32"/>
          <p:cNvSpPr/>
          <p:nvPr/>
        </p:nvSpPr>
        <p:spPr>
          <a:xfrm>
            <a:off x="566928" y="4517136"/>
            <a:ext cx="11064240" cy="46177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35" name="Shape 33"/>
          <p:cNvSpPr/>
          <p:nvPr/>
        </p:nvSpPr>
        <p:spPr>
          <a:xfrm>
            <a:off x="694944" y="4617720"/>
            <a:ext cx="1234440" cy="292608"/>
          </a:xfrm>
          <a:prstGeom prst="roundRect">
            <a:avLst>
              <a:gd name="adj" fmla="val 50000"/>
            </a:avLst>
          </a:prstGeom>
          <a:solidFill>
            <a:srgbClr val="E8A13A"/>
          </a:solidFill>
          <a:ln/>
        </p:spPr>
      </p:sp>
      <p:sp>
        <p:nvSpPr>
          <p:cNvPr id="36" name="Text 34"/>
          <p:cNvSpPr/>
          <p:nvPr/>
        </p:nvSpPr>
        <p:spPr>
          <a:xfrm>
            <a:off x="694944" y="4617720"/>
            <a:ext cx="12344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BUILD</a:t>
            </a:r>
            <a:endParaRPr lang="en-US" sz="1050" dirty="0"/>
          </a:p>
        </p:txBody>
      </p:sp>
      <p:sp>
        <p:nvSpPr>
          <p:cNvPr id="37" name="Text 35"/>
          <p:cNvSpPr/>
          <p:nvPr/>
        </p:nvSpPr>
        <p:spPr>
          <a:xfrm>
            <a:off x="2075688" y="4517136"/>
            <a:ext cx="3566160" cy="4617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Fail-closed PII de-identification</a:t>
            </a:r>
            <a:endParaRPr lang="en-US" sz="1300" dirty="0"/>
          </a:p>
        </p:txBody>
      </p:sp>
      <p:sp>
        <p:nvSpPr>
          <p:cNvPr id="38" name="Text 36"/>
          <p:cNvSpPr/>
          <p:nvPr/>
        </p:nvSpPr>
        <p:spPr>
          <a:xfrm>
            <a:off x="5733288" y="4517136"/>
            <a:ext cx="5715000" cy="4617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453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mask_pii tool — Comprehend DetectPiiEntities, before model &amp; audit</a:t>
            </a:r>
            <a:endParaRPr lang="en-US" sz="1200" dirty="0"/>
          </a:p>
        </p:txBody>
      </p:sp>
      <p:sp>
        <p:nvSpPr>
          <p:cNvPr id="39" name="Shape 37"/>
          <p:cNvSpPr/>
          <p:nvPr/>
        </p:nvSpPr>
        <p:spPr>
          <a:xfrm>
            <a:off x="566928" y="5033772"/>
            <a:ext cx="11064240" cy="461772"/>
          </a:xfrm>
          <a:prstGeom prst="rect">
            <a:avLst/>
          </a:prstGeom>
          <a:solidFill>
            <a:srgbClr val="ECF1F5"/>
          </a:solidFill>
          <a:ln/>
        </p:spPr>
      </p:sp>
      <p:sp>
        <p:nvSpPr>
          <p:cNvPr id="40" name="Shape 38"/>
          <p:cNvSpPr/>
          <p:nvPr/>
        </p:nvSpPr>
        <p:spPr>
          <a:xfrm>
            <a:off x="694944" y="5134356"/>
            <a:ext cx="1234440" cy="292608"/>
          </a:xfrm>
          <a:prstGeom prst="roundRect">
            <a:avLst>
              <a:gd name="adj" fmla="val 50000"/>
            </a:avLst>
          </a:prstGeom>
          <a:solidFill>
            <a:srgbClr val="E8A13A"/>
          </a:solidFill>
          <a:ln/>
        </p:spPr>
      </p:sp>
      <p:sp>
        <p:nvSpPr>
          <p:cNvPr id="41" name="Text 39"/>
          <p:cNvSpPr/>
          <p:nvPr/>
        </p:nvSpPr>
        <p:spPr>
          <a:xfrm>
            <a:off x="694944" y="5134356"/>
            <a:ext cx="12344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BUILD</a:t>
            </a:r>
            <a:endParaRPr lang="en-US" sz="1050" dirty="0"/>
          </a:p>
        </p:txBody>
      </p:sp>
      <p:sp>
        <p:nvSpPr>
          <p:cNvPr id="42" name="Text 40"/>
          <p:cNvSpPr/>
          <p:nvPr/>
        </p:nvSpPr>
        <p:spPr>
          <a:xfrm>
            <a:off x="2075688" y="5033772"/>
            <a:ext cx="3566160" cy="4617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Human sign-off gate</a:t>
            </a:r>
            <a:endParaRPr lang="en-US" sz="1300" dirty="0"/>
          </a:p>
        </p:txBody>
      </p:sp>
      <p:sp>
        <p:nvSpPr>
          <p:cNvPr id="43" name="Text 41"/>
          <p:cNvSpPr/>
          <p:nvPr/>
        </p:nvSpPr>
        <p:spPr>
          <a:xfrm>
            <a:off x="5733288" y="5033772"/>
            <a:ext cx="5715000" cy="4617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453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Step Functions waitForTaskToken — bound, single-use approval</a:t>
            </a:r>
            <a:endParaRPr lang="en-US" sz="1200" dirty="0"/>
          </a:p>
        </p:txBody>
      </p:sp>
      <p:sp>
        <p:nvSpPr>
          <p:cNvPr id="44" name="Shape 42"/>
          <p:cNvSpPr/>
          <p:nvPr/>
        </p:nvSpPr>
        <p:spPr>
          <a:xfrm>
            <a:off x="566928" y="5550408"/>
            <a:ext cx="11064240" cy="46177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45" name="Shape 43"/>
          <p:cNvSpPr/>
          <p:nvPr/>
        </p:nvSpPr>
        <p:spPr>
          <a:xfrm>
            <a:off x="694944" y="5650992"/>
            <a:ext cx="1234440" cy="292608"/>
          </a:xfrm>
          <a:prstGeom prst="roundRect">
            <a:avLst>
              <a:gd name="adj" fmla="val 50000"/>
            </a:avLst>
          </a:prstGeom>
          <a:solidFill>
            <a:srgbClr val="E8A13A"/>
          </a:solidFill>
          <a:ln/>
        </p:spPr>
      </p:sp>
      <p:sp>
        <p:nvSpPr>
          <p:cNvPr id="46" name="Text 44"/>
          <p:cNvSpPr/>
          <p:nvPr/>
        </p:nvSpPr>
        <p:spPr>
          <a:xfrm>
            <a:off x="694944" y="5650992"/>
            <a:ext cx="12344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BUILD</a:t>
            </a:r>
            <a:endParaRPr lang="en-US" sz="1050" dirty="0"/>
          </a:p>
        </p:txBody>
      </p:sp>
      <p:sp>
        <p:nvSpPr>
          <p:cNvPr id="47" name="Text 45"/>
          <p:cNvSpPr/>
          <p:nvPr/>
        </p:nvSpPr>
        <p:spPr>
          <a:xfrm>
            <a:off x="2075688" y="5550408"/>
            <a:ext cx="3566160" cy="4617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Immutable WORM audit</a:t>
            </a:r>
            <a:endParaRPr lang="en-US" sz="1300" dirty="0"/>
          </a:p>
        </p:txBody>
      </p:sp>
      <p:sp>
        <p:nvSpPr>
          <p:cNvPr id="48" name="Text 46"/>
          <p:cNvSpPr/>
          <p:nvPr/>
        </p:nvSpPr>
        <p:spPr>
          <a:xfrm>
            <a:off x="5733288" y="5550408"/>
            <a:ext cx="5715000" cy="4617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453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Append-only DynamoDB + S3 Object Lock — program-integrity evidence</a:t>
            </a:r>
            <a:endParaRPr lang="en-US" sz="1200" dirty="0"/>
          </a:p>
        </p:txBody>
      </p:sp>
      <p:sp>
        <p:nvSpPr>
          <p:cNvPr id="49" name="Text 47"/>
          <p:cNvSpPr/>
          <p:nvPr/>
        </p:nvSpPr>
        <p:spPr>
          <a:xfrm>
            <a:off x="548640" y="6455664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6B7A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Governed Agentic AI · Amazon Bedrock AgentCore</a:t>
            </a:r>
            <a:endParaRPr lang="en-US" sz="800" dirty="0"/>
          </a:p>
        </p:txBody>
      </p:sp>
      <p:sp>
        <p:nvSpPr>
          <p:cNvPr id="50" name="Text 48"/>
          <p:cNvSpPr/>
          <p:nvPr/>
        </p:nvSpPr>
        <p:spPr>
          <a:xfrm>
            <a:off x="11338560" y="6419088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A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06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E2A4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256032"/>
            <a:ext cx="10972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02C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RUNTIME BEHAVIOR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411480"/>
            <a:ext cx="10972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How one governed action flows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566928" y="1417320"/>
            <a:ext cx="512064" cy="512064"/>
          </a:xfrm>
          <a:prstGeom prst="ellipse">
            <a:avLst/>
          </a:prstGeom>
          <a:solidFill>
            <a:srgbClr val="1C7293"/>
          </a:solidFill>
          <a:ln/>
          <a:effectLst>
            <a:outerShdw sx="100000" sy="100000" kx="0" ky="0" algn="bl" rotWithShape="0" blurRad="76200" dist="25400" dir="5400000">
              <a:srgbClr val="0A1F33">
                <a:alpha val="18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566928" y="1417320"/>
            <a:ext cx="51206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700" dirty="0"/>
          </a:p>
        </p:txBody>
      </p:sp>
      <p:sp>
        <p:nvSpPr>
          <p:cNvPr id="6" name="Text 4"/>
          <p:cNvSpPr/>
          <p:nvPr/>
        </p:nvSpPr>
        <p:spPr>
          <a:xfrm>
            <a:off x="1225296" y="1380744"/>
            <a:ext cx="47548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Aid officer authenticates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225296" y="1673352"/>
            <a:ext cx="4754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Cognito / IdP issues a JWT for the person on whose behalf the agent acts.</a:t>
            </a:r>
            <a:endParaRPr lang="en-US" sz="1150" dirty="0"/>
          </a:p>
        </p:txBody>
      </p:sp>
      <p:sp>
        <p:nvSpPr>
          <p:cNvPr id="8" name="Shape 6"/>
          <p:cNvSpPr/>
          <p:nvPr/>
        </p:nvSpPr>
        <p:spPr>
          <a:xfrm>
            <a:off x="566928" y="2212848"/>
            <a:ext cx="512064" cy="512064"/>
          </a:xfrm>
          <a:prstGeom prst="ellipse">
            <a:avLst/>
          </a:prstGeom>
          <a:solidFill>
            <a:srgbClr val="1C7293"/>
          </a:solidFill>
          <a:ln/>
          <a:effectLst>
            <a:outerShdw sx="100000" sy="100000" kx="0" ky="0" algn="bl" rotWithShape="0" blurRad="76200" dist="25400" dir="5400000">
              <a:srgbClr val="0A1F33">
                <a:alpha val="18000"/>
              </a:srgbClr>
            </a:outerShdw>
          </a:effectLst>
        </p:spPr>
      </p:sp>
      <p:sp>
        <p:nvSpPr>
          <p:cNvPr id="9" name="Text 7"/>
          <p:cNvSpPr/>
          <p:nvPr/>
        </p:nvSpPr>
        <p:spPr>
          <a:xfrm>
            <a:off x="566928" y="2212848"/>
            <a:ext cx="51206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700" dirty="0"/>
          </a:p>
        </p:txBody>
      </p:sp>
      <p:sp>
        <p:nvSpPr>
          <p:cNvPr id="10" name="Text 8"/>
          <p:cNvSpPr/>
          <p:nvPr/>
        </p:nvSpPr>
        <p:spPr>
          <a:xfrm>
            <a:off x="1225296" y="2176272"/>
            <a:ext cx="47548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 decides to call a tool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1225296" y="2468880"/>
            <a:ext cx="4754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Strands agent runs on AgentCore Runtime and reaches for a Gateway tool.</a:t>
            </a:r>
            <a:endParaRPr lang="en-US" sz="1150" dirty="0"/>
          </a:p>
        </p:txBody>
      </p:sp>
      <p:sp>
        <p:nvSpPr>
          <p:cNvPr id="12" name="Shape 10"/>
          <p:cNvSpPr/>
          <p:nvPr/>
        </p:nvSpPr>
        <p:spPr>
          <a:xfrm>
            <a:off x="566928" y="3008376"/>
            <a:ext cx="512064" cy="512064"/>
          </a:xfrm>
          <a:prstGeom prst="ellipse">
            <a:avLst/>
          </a:prstGeom>
          <a:solidFill>
            <a:srgbClr val="1C7293"/>
          </a:solidFill>
          <a:ln/>
          <a:effectLst>
            <a:outerShdw sx="100000" sy="100000" kx="0" ky="0" algn="bl" rotWithShape="0" blurRad="76200" dist="25400" dir="5400000">
              <a:srgbClr val="0A1F33">
                <a:alpha val="18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566928" y="3008376"/>
            <a:ext cx="51206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700" dirty="0"/>
          </a:p>
        </p:txBody>
      </p:sp>
      <p:sp>
        <p:nvSpPr>
          <p:cNvPr id="14" name="Text 12"/>
          <p:cNvSpPr/>
          <p:nvPr/>
        </p:nvSpPr>
        <p:spPr>
          <a:xfrm>
            <a:off x="1225296" y="2971800"/>
            <a:ext cx="47548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Gateway validates identity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1225296" y="3264408"/>
            <a:ext cx="4754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Inbound auth checks the JWT before anything runs.</a:t>
            </a:r>
            <a:endParaRPr lang="en-US" sz="1150" dirty="0"/>
          </a:p>
        </p:txBody>
      </p:sp>
      <p:sp>
        <p:nvSpPr>
          <p:cNvPr id="16" name="Shape 14"/>
          <p:cNvSpPr/>
          <p:nvPr/>
        </p:nvSpPr>
        <p:spPr>
          <a:xfrm>
            <a:off x="566928" y="3803904"/>
            <a:ext cx="512064" cy="512064"/>
          </a:xfrm>
          <a:prstGeom prst="ellipse">
            <a:avLst/>
          </a:prstGeom>
          <a:solidFill>
            <a:srgbClr val="1C7293"/>
          </a:solidFill>
          <a:ln/>
          <a:effectLst>
            <a:outerShdw sx="100000" sy="100000" kx="0" ky="0" algn="bl" rotWithShape="0" blurRad="76200" dist="25400" dir="5400000">
              <a:srgbClr val="0A1F33">
                <a:alpha val="18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566928" y="3803904"/>
            <a:ext cx="51206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700" dirty="0"/>
          </a:p>
        </p:txBody>
      </p:sp>
      <p:sp>
        <p:nvSpPr>
          <p:cNvPr id="18" name="Text 16"/>
          <p:cNvSpPr/>
          <p:nvPr/>
        </p:nvSpPr>
        <p:spPr>
          <a:xfrm>
            <a:off x="1225296" y="3767328"/>
            <a:ext cx="47548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Cedar evaluates — default-deny</a:t>
            </a:r>
            <a:endParaRPr lang="en-US" sz="1400" dirty="0"/>
          </a:p>
        </p:txBody>
      </p:sp>
      <p:sp>
        <p:nvSpPr>
          <p:cNvPr id="19" name="Text 17"/>
          <p:cNvSpPr/>
          <p:nvPr/>
        </p:nvSpPr>
        <p:spPr>
          <a:xfrm>
            <a:off x="1225296" y="4059936"/>
            <a:ext cx="4754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Principal + action + resource + conditions. A deny means the tool never runs — and is auditable.</a:t>
            </a:r>
            <a:endParaRPr lang="en-US" sz="1150" dirty="0"/>
          </a:p>
        </p:txBody>
      </p:sp>
      <p:sp>
        <p:nvSpPr>
          <p:cNvPr id="20" name="Shape 18"/>
          <p:cNvSpPr/>
          <p:nvPr/>
        </p:nvSpPr>
        <p:spPr>
          <a:xfrm>
            <a:off x="6510528" y="1417320"/>
            <a:ext cx="512064" cy="512064"/>
          </a:xfrm>
          <a:prstGeom prst="ellipse">
            <a:avLst/>
          </a:prstGeom>
          <a:solidFill>
            <a:srgbClr val="1C7293"/>
          </a:solidFill>
          <a:ln/>
          <a:effectLst>
            <a:outerShdw sx="100000" sy="100000" kx="0" ky="0" algn="bl" rotWithShape="0" blurRad="76200" dist="25400" dir="5400000">
              <a:srgbClr val="0A1F33">
                <a:alpha val="18000"/>
              </a:srgbClr>
            </a:outerShdw>
          </a:effectLst>
        </p:spPr>
      </p:sp>
      <p:sp>
        <p:nvSpPr>
          <p:cNvPr id="21" name="Text 19"/>
          <p:cNvSpPr/>
          <p:nvPr/>
        </p:nvSpPr>
        <p:spPr>
          <a:xfrm>
            <a:off x="6510528" y="1417320"/>
            <a:ext cx="51206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700" dirty="0"/>
          </a:p>
        </p:txBody>
      </p:sp>
      <p:sp>
        <p:nvSpPr>
          <p:cNvPr id="22" name="Text 20"/>
          <p:cNvSpPr/>
          <p:nvPr/>
        </p:nvSpPr>
        <p:spPr>
          <a:xfrm>
            <a:off x="7168896" y="1380744"/>
            <a:ext cx="47548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Masking runs first (fail-closed)</a:t>
            </a:r>
            <a:endParaRPr lang="en-US" sz="1400" dirty="0"/>
          </a:p>
        </p:txBody>
      </p:sp>
      <p:sp>
        <p:nvSpPr>
          <p:cNvPr id="23" name="Text 21"/>
          <p:cNvSpPr/>
          <p:nvPr/>
        </p:nvSpPr>
        <p:spPr>
          <a:xfrm>
            <a:off x="7168896" y="1673352"/>
            <a:ext cx="4754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mask_pii de-identifies the application; assessment and drafting only ever see masked text.</a:t>
            </a:r>
            <a:endParaRPr lang="en-US" sz="1150" dirty="0"/>
          </a:p>
        </p:txBody>
      </p:sp>
      <p:sp>
        <p:nvSpPr>
          <p:cNvPr id="24" name="Shape 22"/>
          <p:cNvSpPr/>
          <p:nvPr/>
        </p:nvSpPr>
        <p:spPr>
          <a:xfrm>
            <a:off x="6510528" y="2212848"/>
            <a:ext cx="512064" cy="512064"/>
          </a:xfrm>
          <a:prstGeom prst="ellipse">
            <a:avLst/>
          </a:prstGeom>
          <a:solidFill>
            <a:srgbClr val="E8A13A"/>
          </a:solidFill>
          <a:ln/>
          <a:effectLst>
            <a:outerShdw sx="100000" sy="100000" kx="0" ky="0" algn="bl" rotWithShape="0" blurRad="76200" dist="25400" dir="5400000">
              <a:srgbClr val="0A1F33">
                <a:alpha val="18000"/>
              </a:srgbClr>
            </a:outerShdw>
          </a:effectLst>
        </p:spPr>
      </p:sp>
      <p:sp>
        <p:nvSpPr>
          <p:cNvPr id="25" name="Text 23"/>
          <p:cNvSpPr/>
          <p:nvPr/>
        </p:nvSpPr>
        <p:spPr>
          <a:xfrm>
            <a:off x="6510528" y="2212848"/>
            <a:ext cx="51206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0E2A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1700" dirty="0"/>
          </a:p>
        </p:txBody>
      </p:sp>
      <p:sp>
        <p:nvSpPr>
          <p:cNvPr id="26" name="Text 24"/>
          <p:cNvSpPr/>
          <p:nvPr/>
        </p:nvSpPr>
        <p:spPr>
          <a:xfrm>
            <a:off x="7168896" y="2176272"/>
            <a:ext cx="47548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Human gate for the commit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7168896" y="2468880"/>
            <a:ext cx="4754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request_signoff opens a Step Functions gate; a second aid officer approves. Only then does finalize_award run.</a:t>
            </a:r>
            <a:endParaRPr lang="en-US" sz="1150" dirty="0"/>
          </a:p>
        </p:txBody>
      </p:sp>
      <p:sp>
        <p:nvSpPr>
          <p:cNvPr id="28" name="Shape 26"/>
          <p:cNvSpPr/>
          <p:nvPr/>
        </p:nvSpPr>
        <p:spPr>
          <a:xfrm>
            <a:off x="6510528" y="3008376"/>
            <a:ext cx="512064" cy="512064"/>
          </a:xfrm>
          <a:prstGeom prst="ellipse">
            <a:avLst/>
          </a:prstGeom>
          <a:solidFill>
            <a:srgbClr val="02C39A"/>
          </a:solidFill>
          <a:ln/>
          <a:effectLst>
            <a:outerShdw sx="100000" sy="100000" kx="0" ky="0" algn="bl" rotWithShape="0" blurRad="76200" dist="25400" dir="5400000">
              <a:srgbClr val="0A1F33">
                <a:alpha val="18000"/>
              </a:srgbClr>
            </a:outerShdw>
          </a:effectLst>
        </p:spPr>
      </p:sp>
      <p:sp>
        <p:nvSpPr>
          <p:cNvPr id="29" name="Text 27"/>
          <p:cNvSpPr/>
          <p:nvPr/>
        </p:nvSpPr>
        <p:spPr>
          <a:xfrm>
            <a:off x="6510528" y="3008376"/>
            <a:ext cx="51206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0E2A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1700" dirty="0"/>
          </a:p>
        </p:txBody>
      </p:sp>
      <p:sp>
        <p:nvSpPr>
          <p:cNvPr id="30" name="Text 28"/>
          <p:cNvSpPr/>
          <p:nvPr/>
        </p:nvSpPr>
        <p:spPr>
          <a:xfrm>
            <a:off x="7168896" y="2971800"/>
            <a:ext cx="47548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WORM audit + trace</a:t>
            </a:r>
            <a:endParaRPr lang="en-US" sz="1400" dirty="0"/>
          </a:p>
        </p:txBody>
      </p:sp>
      <p:sp>
        <p:nvSpPr>
          <p:cNvPr id="31" name="Text 29"/>
          <p:cNvSpPr/>
          <p:nvPr/>
        </p:nvSpPr>
        <p:spPr>
          <a:xfrm>
            <a:off x="7168896" y="3264408"/>
            <a:ext cx="4754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decision and state change is written to an immutable record and traced in Observability.</a:t>
            </a:r>
            <a:endParaRPr lang="en-US" sz="1150" dirty="0"/>
          </a:p>
        </p:txBody>
      </p:sp>
      <p:sp>
        <p:nvSpPr>
          <p:cNvPr id="32" name="Text 30"/>
          <p:cNvSpPr/>
          <p:nvPr/>
        </p:nvSpPr>
        <p:spPr>
          <a:xfrm>
            <a:off x="548640" y="6455664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6B7A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Governed Agentic AI · Amazon Bedrock AgentCore</a:t>
            </a:r>
            <a:endParaRPr lang="en-US" sz="800" dirty="0"/>
          </a:p>
        </p:txBody>
      </p:sp>
      <p:sp>
        <p:nvSpPr>
          <p:cNvPr id="33" name="Text 31"/>
          <p:cNvSpPr/>
          <p:nvPr/>
        </p:nvSpPr>
        <p:spPr>
          <a:xfrm>
            <a:off x="11338560" y="6419088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A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07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4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256032"/>
            <a:ext cx="10972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EVIDENCE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4114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700" b="1" dirty="0">
                <a:solidFill>
                  <a:srgbClr val="1A27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Proof, not slideware: 32 / 32 governance checks, live on AWS</a:t>
            </a:r>
            <a:endParaRPr lang="en-US" sz="2700" dirty="0"/>
          </a:p>
        </p:txBody>
      </p:sp>
      <p:sp>
        <p:nvSpPr>
          <p:cNvPr id="4" name="Shape 2"/>
          <p:cNvSpPr/>
          <p:nvPr/>
        </p:nvSpPr>
        <p:spPr>
          <a:xfrm>
            <a:off x="566928" y="1371600"/>
            <a:ext cx="2651760" cy="1234440"/>
          </a:xfrm>
          <a:prstGeom prst="roundRect">
            <a:avLst>
              <a:gd name="adj" fmla="val 6667"/>
            </a:avLst>
          </a:prstGeom>
          <a:solidFill>
            <a:srgbClr val="FFFFFF"/>
          </a:solidFill>
          <a:ln w="12700">
            <a:solidFill>
              <a:srgbClr val="D9E1E8"/>
            </a:solidFill>
            <a:prstDash val="solid"/>
          </a:ln>
          <a:effectLst>
            <a:outerShdw sx="100000" sy="100000" kx="0" ky="0" algn="bl" rotWithShape="0" blurRad="114300" dist="38100" dir="5400000">
              <a:srgbClr val="0A1F33">
                <a:alpha val="22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566928" y="1481328"/>
            <a:ext cx="26517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02C39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32/32</a:t>
            </a:r>
            <a:endParaRPr lang="en-US" sz="3400" dirty="0"/>
          </a:p>
        </p:txBody>
      </p:sp>
      <p:sp>
        <p:nvSpPr>
          <p:cNvPr id="6" name="Text 4"/>
          <p:cNvSpPr/>
          <p:nvPr/>
        </p:nvSpPr>
        <p:spPr>
          <a:xfrm>
            <a:off x="658368" y="2148840"/>
            <a:ext cx="24688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4453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governance checks pass</a:t>
            </a:r>
            <a:endParaRPr lang="en-US" sz="1150" dirty="0"/>
          </a:p>
        </p:txBody>
      </p:sp>
      <p:sp>
        <p:nvSpPr>
          <p:cNvPr id="7" name="Shape 5"/>
          <p:cNvSpPr/>
          <p:nvPr/>
        </p:nvSpPr>
        <p:spPr>
          <a:xfrm>
            <a:off x="3429000" y="1371600"/>
            <a:ext cx="2651760" cy="1234440"/>
          </a:xfrm>
          <a:prstGeom prst="roundRect">
            <a:avLst>
              <a:gd name="adj" fmla="val 6667"/>
            </a:avLst>
          </a:prstGeom>
          <a:solidFill>
            <a:srgbClr val="FFFFFF"/>
          </a:solidFill>
          <a:ln w="12700">
            <a:solidFill>
              <a:srgbClr val="D9E1E8"/>
            </a:solidFill>
            <a:prstDash val="solid"/>
          </a:ln>
          <a:effectLst>
            <a:outerShdw sx="100000" sy="100000" kx="0" ky="0" algn="bl" rotWithShape="0" blurRad="114300" dist="38100" dir="5400000">
              <a:srgbClr val="0A1F33">
                <a:alpha val="22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3429000" y="1481328"/>
            <a:ext cx="26517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1C729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6</a:t>
            </a:r>
            <a:endParaRPr lang="en-US" sz="3400" dirty="0"/>
          </a:p>
        </p:txBody>
      </p:sp>
      <p:sp>
        <p:nvSpPr>
          <p:cNvPr id="9" name="Text 7"/>
          <p:cNvSpPr/>
          <p:nvPr/>
        </p:nvSpPr>
        <p:spPr>
          <a:xfrm>
            <a:off x="3520440" y="2148840"/>
            <a:ext cx="24688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4453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controls native on AgentCore</a:t>
            </a:r>
            <a:endParaRPr lang="en-US" sz="1150" dirty="0"/>
          </a:p>
        </p:txBody>
      </p:sp>
      <p:sp>
        <p:nvSpPr>
          <p:cNvPr id="10" name="Shape 8"/>
          <p:cNvSpPr/>
          <p:nvPr/>
        </p:nvSpPr>
        <p:spPr>
          <a:xfrm>
            <a:off x="6291072" y="1371600"/>
            <a:ext cx="2651760" cy="1234440"/>
          </a:xfrm>
          <a:prstGeom prst="roundRect">
            <a:avLst>
              <a:gd name="adj" fmla="val 6667"/>
            </a:avLst>
          </a:prstGeom>
          <a:solidFill>
            <a:srgbClr val="FFFFFF"/>
          </a:solidFill>
          <a:ln w="12700">
            <a:solidFill>
              <a:srgbClr val="D9E1E8"/>
            </a:solidFill>
            <a:prstDash val="solid"/>
          </a:ln>
          <a:effectLst>
            <a:outerShdw sx="100000" sy="100000" kx="0" ky="0" algn="bl" rotWithShape="0" blurRad="114300" dist="38100" dir="5400000">
              <a:srgbClr val="0A1F33">
                <a:alpha val="22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6291072" y="1481328"/>
            <a:ext cx="26517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E8A1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3400" dirty="0"/>
          </a:p>
        </p:txBody>
      </p:sp>
      <p:sp>
        <p:nvSpPr>
          <p:cNvPr id="12" name="Text 10"/>
          <p:cNvSpPr/>
          <p:nvPr/>
        </p:nvSpPr>
        <p:spPr>
          <a:xfrm>
            <a:off x="6382512" y="2148840"/>
            <a:ext cx="24688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4453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regulated controls built &amp; proven</a:t>
            </a:r>
            <a:endParaRPr lang="en-US" sz="1150" dirty="0"/>
          </a:p>
        </p:txBody>
      </p:sp>
      <p:sp>
        <p:nvSpPr>
          <p:cNvPr id="13" name="Shape 11"/>
          <p:cNvSpPr/>
          <p:nvPr/>
        </p:nvSpPr>
        <p:spPr>
          <a:xfrm>
            <a:off x="9153144" y="1371600"/>
            <a:ext cx="2651760" cy="1234440"/>
          </a:xfrm>
          <a:prstGeom prst="roundRect">
            <a:avLst>
              <a:gd name="adj" fmla="val 6667"/>
            </a:avLst>
          </a:prstGeom>
          <a:solidFill>
            <a:srgbClr val="FFFFFF"/>
          </a:solidFill>
          <a:ln w="12700">
            <a:solidFill>
              <a:srgbClr val="D9E1E8"/>
            </a:solidFill>
            <a:prstDash val="solid"/>
          </a:ln>
          <a:effectLst>
            <a:outerShdw sx="100000" sy="100000" kx="0" ky="0" algn="bl" rotWithShape="0" blurRad="114300" dist="38100" dir="5400000">
              <a:srgbClr val="0A1F33">
                <a:alpha val="22000"/>
              </a:srgbClr>
            </a:outerShdw>
          </a:effectLst>
        </p:spPr>
      </p:sp>
      <p:sp>
        <p:nvSpPr>
          <p:cNvPr id="14" name="Text 12"/>
          <p:cNvSpPr/>
          <p:nvPr/>
        </p:nvSpPr>
        <p:spPr>
          <a:xfrm>
            <a:off x="9153144" y="1481328"/>
            <a:ext cx="26517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0E2A4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</a:t>
            </a:r>
            <a:endParaRPr lang="en-US" sz="3400" dirty="0"/>
          </a:p>
        </p:txBody>
      </p:sp>
      <p:sp>
        <p:nvSpPr>
          <p:cNvPr id="15" name="Text 13"/>
          <p:cNvSpPr/>
          <p:nvPr/>
        </p:nvSpPr>
        <p:spPr>
          <a:xfrm>
            <a:off x="9244584" y="2148840"/>
            <a:ext cx="24688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4453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residual on teardown</a:t>
            </a:r>
            <a:endParaRPr lang="en-US" sz="1150" dirty="0"/>
          </a:p>
        </p:txBody>
      </p:sp>
      <p:sp>
        <p:nvSpPr>
          <p:cNvPr id="16" name="Shape 14"/>
          <p:cNvSpPr/>
          <p:nvPr/>
        </p:nvSpPr>
        <p:spPr>
          <a:xfrm>
            <a:off x="566928" y="2880360"/>
            <a:ext cx="11064240" cy="2788920"/>
          </a:xfrm>
          <a:prstGeom prst="roundRect">
            <a:avLst>
              <a:gd name="adj" fmla="val 3279"/>
            </a:avLst>
          </a:prstGeom>
          <a:solidFill>
            <a:srgbClr val="FFFFFF"/>
          </a:solidFill>
          <a:ln w="12700">
            <a:solidFill>
              <a:srgbClr val="D9E1E8"/>
            </a:solidFill>
            <a:prstDash val="solid"/>
          </a:ln>
          <a:effectLst>
            <a:outerShdw sx="100000" sy="100000" kx="0" ky="0" algn="bl" rotWithShape="0" blurRad="114300" dist="38100" dir="5400000">
              <a:srgbClr val="0A1F33">
                <a:alpha val="2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868680" y="3063240"/>
            <a:ext cx="10424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E2A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one of these ran live, in ENFORCE mode, and each denial names the exact Cedar policy that fired:</a:t>
            </a:r>
            <a:endParaRPr lang="en-US" sz="1300" dirty="0"/>
          </a:p>
        </p:txBody>
      </p:sp>
      <p:sp>
        <p:nvSpPr>
          <p:cNvPr id="18" name="Shape 16"/>
          <p:cNvSpPr/>
          <p:nvPr/>
        </p:nvSpPr>
        <p:spPr>
          <a:xfrm>
            <a:off x="896112" y="3520440"/>
            <a:ext cx="292608" cy="292608"/>
          </a:xfrm>
          <a:prstGeom prst="ellipse">
            <a:avLst/>
          </a:prstGeom>
          <a:solidFill>
            <a:srgbClr val="02C39A"/>
          </a:solidFill>
          <a:ln/>
          <a:effectLst>
            <a:outerShdw sx="100000" sy="100000" kx="0" ky="0" algn="bl" rotWithShape="0" blurRad="76200" dist="25400" dir="5400000">
              <a:srgbClr val="0A1F33">
                <a:alpha val="18000"/>
              </a:srgbClr>
            </a:outerShdw>
          </a:effectLst>
        </p:spPr>
      </p:sp>
      <p:sp>
        <p:nvSpPr>
          <p:cNvPr id="19" name="Text 17"/>
          <p:cNvSpPr/>
          <p:nvPr/>
        </p:nvSpPr>
        <p:spPr>
          <a:xfrm>
            <a:off x="896112" y="3520440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E2A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200" dirty="0"/>
          </a:p>
        </p:txBody>
      </p:sp>
      <p:sp>
        <p:nvSpPr>
          <p:cNvPr id="20" name="Text 18"/>
          <p:cNvSpPr/>
          <p:nvPr/>
        </p:nvSpPr>
        <p:spPr>
          <a:xfrm>
            <a:off x="1298448" y="3474720"/>
            <a:ext cx="507492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Deny-by-default — aid officer ALLOW, outsider DENY</a:t>
            </a:r>
            <a:endParaRPr lang="en-US" sz="1200" dirty="0"/>
          </a:p>
        </p:txBody>
      </p:sp>
      <p:sp>
        <p:nvSpPr>
          <p:cNvPr id="21" name="Shape 19"/>
          <p:cNvSpPr/>
          <p:nvPr/>
        </p:nvSpPr>
        <p:spPr>
          <a:xfrm>
            <a:off x="896112" y="4032504"/>
            <a:ext cx="292608" cy="292608"/>
          </a:xfrm>
          <a:prstGeom prst="ellipse">
            <a:avLst/>
          </a:prstGeom>
          <a:solidFill>
            <a:srgbClr val="02C39A"/>
          </a:solidFill>
          <a:ln/>
          <a:effectLst>
            <a:outerShdw sx="100000" sy="100000" kx="0" ky="0" algn="bl" rotWithShape="0" blurRad="76200" dist="25400" dir="5400000">
              <a:srgbClr val="0A1F33">
                <a:alpha val="18000"/>
              </a:srgbClr>
            </a:outerShdw>
          </a:effectLst>
        </p:spPr>
      </p:sp>
      <p:sp>
        <p:nvSpPr>
          <p:cNvPr id="22" name="Text 20"/>
          <p:cNvSpPr/>
          <p:nvPr/>
        </p:nvSpPr>
        <p:spPr>
          <a:xfrm>
            <a:off x="896112" y="4032504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E2A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200" dirty="0"/>
          </a:p>
        </p:txBody>
      </p:sp>
      <p:sp>
        <p:nvSpPr>
          <p:cNvPr id="23" name="Text 21"/>
          <p:cNvSpPr/>
          <p:nvPr/>
        </p:nvSpPr>
        <p:spPr>
          <a:xfrm>
            <a:off x="1298448" y="3986784"/>
            <a:ext cx="507492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Mask-before-assess — un-masked assessment forbidden</a:t>
            </a:r>
            <a:endParaRPr lang="en-US" sz="1200" dirty="0"/>
          </a:p>
        </p:txBody>
      </p:sp>
      <p:sp>
        <p:nvSpPr>
          <p:cNvPr id="24" name="Shape 22"/>
          <p:cNvSpPr/>
          <p:nvPr/>
        </p:nvSpPr>
        <p:spPr>
          <a:xfrm>
            <a:off x="896112" y="4544568"/>
            <a:ext cx="292608" cy="292608"/>
          </a:xfrm>
          <a:prstGeom prst="ellipse">
            <a:avLst/>
          </a:prstGeom>
          <a:solidFill>
            <a:srgbClr val="02C39A"/>
          </a:solidFill>
          <a:ln/>
          <a:effectLst>
            <a:outerShdw sx="100000" sy="100000" kx="0" ky="0" algn="bl" rotWithShape="0" blurRad="76200" dist="25400" dir="5400000">
              <a:srgbClr val="0A1F33">
                <a:alpha val="18000"/>
              </a:srgbClr>
            </a:outerShdw>
          </a:effectLst>
        </p:spPr>
      </p:sp>
      <p:sp>
        <p:nvSpPr>
          <p:cNvPr id="25" name="Text 23"/>
          <p:cNvSpPr/>
          <p:nvPr/>
        </p:nvSpPr>
        <p:spPr>
          <a:xfrm>
            <a:off x="896112" y="4544568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E2A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200" dirty="0"/>
          </a:p>
        </p:txBody>
      </p:sp>
      <p:sp>
        <p:nvSpPr>
          <p:cNvPr id="26" name="Text 24"/>
          <p:cNvSpPr/>
          <p:nvPr/>
        </p:nvSpPr>
        <p:spPr>
          <a:xfrm>
            <a:off x="1298448" y="4498848"/>
            <a:ext cx="507492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Mask-before-draft — un-masked notice forbidden</a:t>
            </a:r>
            <a:endParaRPr lang="en-US" sz="1200" dirty="0"/>
          </a:p>
        </p:txBody>
      </p:sp>
      <p:sp>
        <p:nvSpPr>
          <p:cNvPr id="27" name="Shape 25"/>
          <p:cNvSpPr/>
          <p:nvPr/>
        </p:nvSpPr>
        <p:spPr>
          <a:xfrm>
            <a:off x="896112" y="5056632"/>
            <a:ext cx="292608" cy="292608"/>
          </a:xfrm>
          <a:prstGeom prst="ellipse">
            <a:avLst/>
          </a:prstGeom>
          <a:solidFill>
            <a:srgbClr val="02C39A"/>
          </a:solidFill>
          <a:ln/>
          <a:effectLst>
            <a:outerShdw sx="100000" sy="100000" kx="0" ky="0" algn="bl" rotWithShape="0" blurRad="76200" dist="25400" dir="5400000">
              <a:srgbClr val="0A1F33">
                <a:alpha val="18000"/>
              </a:srgbClr>
            </a:outerShdw>
          </a:effectLst>
        </p:spPr>
      </p:sp>
      <p:sp>
        <p:nvSpPr>
          <p:cNvPr id="28" name="Text 26"/>
          <p:cNvSpPr/>
          <p:nvPr/>
        </p:nvSpPr>
        <p:spPr>
          <a:xfrm>
            <a:off x="896112" y="5056632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E2A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200" dirty="0"/>
          </a:p>
        </p:txBody>
      </p:sp>
      <p:sp>
        <p:nvSpPr>
          <p:cNvPr id="29" name="Text 27"/>
          <p:cNvSpPr/>
          <p:nvPr/>
        </p:nvSpPr>
        <p:spPr>
          <a:xfrm>
            <a:off x="1298448" y="5010912"/>
            <a:ext cx="507492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No-self-commit — the agent can't finalize an award</a:t>
            </a:r>
            <a:endParaRPr lang="en-US" sz="1200" dirty="0"/>
          </a:p>
        </p:txBody>
      </p:sp>
      <p:sp>
        <p:nvSpPr>
          <p:cNvPr id="30" name="Shape 28"/>
          <p:cNvSpPr/>
          <p:nvPr/>
        </p:nvSpPr>
        <p:spPr>
          <a:xfrm>
            <a:off x="6309360" y="3520440"/>
            <a:ext cx="292608" cy="292608"/>
          </a:xfrm>
          <a:prstGeom prst="ellipse">
            <a:avLst/>
          </a:prstGeom>
          <a:solidFill>
            <a:srgbClr val="02C39A"/>
          </a:solidFill>
          <a:ln/>
          <a:effectLst>
            <a:outerShdw sx="100000" sy="100000" kx="0" ky="0" algn="bl" rotWithShape="0" blurRad="76200" dist="25400" dir="5400000">
              <a:srgbClr val="0A1F33">
                <a:alpha val="18000"/>
              </a:srgbClr>
            </a:outerShdw>
          </a:effectLst>
        </p:spPr>
      </p:sp>
      <p:sp>
        <p:nvSpPr>
          <p:cNvPr id="31" name="Text 29"/>
          <p:cNvSpPr/>
          <p:nvPr/>
        </p:nvSpPr>
        <p:spPr>
          <a:xfrm>
            <a:off x="6309360" y="3520440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E2A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200" dirty="0"/>
          </a:p>
        </p:txBody>
      </p:sp>
      <p:sp>
        <p:nvSpPr>
          <p:cNvPr id="32" name="Text 30"/>
          <p:cNvSpPr/>
          <p:nvPr/>
        </p:nvSpPr>
        <p:spPr>
          <a:xfrm>
            <a:off x="6711696" y="3474720"/>
            <a:ext cx="507492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 PII masking (Comprehend, fail-closed): name + SSN</a:t>
            </a:r>
            <a:endParaRPr lang="en-US" sz="1200" dirty="0"/>
          </a:p>
        </p:txBody>
      </p:sp>
      <p:sp>
        <p:nvSpPr>
          <p:cNvPr id="33" name="Shape 31"/>
          <p:cNvSpPr/>
          <p:nvPr/>
        </p:nvSpPr>
        <p:spPr>
          <a:xfrm>
            <a:off x="6309360" y="4032504"/>
            <a:ext cx="292608" cy="292608"/>
          </a:xfrm>
          <a:prstGeom prst="ellipse">
            <a:avLst/>
          </a:prstGeom>
          <a:solidFill>
            <a:srgbClr val="02C39A"/>
          </a:solidFill>
          <a:ln/>
          <a:effectLst>
            <a:outerShdw sx="100000" sy="100000" kx="0" ky="0" algn="bl" rotWithShape="0" blurRad="76200" dist="25400" dir="5400000">
              <a:srgbClr val="0A1F33">
                <a:alpha val="18000"/>
              </a:srgbClr>
            </a:outerShdw>
          </a:effectLst>
        </p:spPr>
      </p:sp>
      <p:sp>
        <p:nvSpPr>
          <p:cNvPr id="34" name="Text 32"/>
          <p:cNvSpPr/>
          <p:nvPr/>
        </p:nvSpPr>
        <p:spPr>
          <a:xfrm>
            <a:off x="6309360" y="4032504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E2A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200" dirty="0"/>
          </a:p>
        </p:txBody>
      </p:sp>
      <p:sp>
        <p:nvSpPr>
          <p:cNvPr id="35" name="Text 33"/>
          <p:cNvSpPr/>
          <p:nvPr/>
        </p:nvSpPr>
        <p:spPr>
          <a:xfrm>
            <a:off x="6711696" y="3986784"/>
            <a:ext cx="507492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Deterministic Pell + SAP + verification engine</a:t>
            </a:r>
            <a:endParaRPr lang="en-US" sz="1200" dirty="0"/>
          </a:p>
        </p:txBody>
      </p:sp>
      <p:sp>
        <p:nvSpPr>
          <p:cNvPr id="36" name="Shape 34"/>
          <p:cNvSpPr/>
          <p:nvPr/>
        </p:nvSpPr>
        <p:spPr>
          <a:xfrm>
            <a:off x="6309360" y="4544568"/>
            <a:ext cx="292608" cy="292608"/>
          </a:xfrm>
          <a:prstGeom prst="ellipse">
            <a:avLst/>
          </a:prstGeom>
          <a:solidFill>
            <a:srgbClr val="02C39A"/>
          </a:solidFill>
          <a:ln/>
          <a:effectLst>
            <a:outerShdw sx="100000" sy="100000" kx="0" ky="0" algn="bl" rotWithShape="0" blurRad="76200" dist="25400" dir="5400000">
              <a:srgbClr val="0A1F33">
                <a:alpha val="18000"/>
              </a:srgbClr>
            </a:outerShdw>
          </a:effectLst>
        </p:spPr>
      </p:sp>
      <p:sp>
        <p:nvSpPr>
          <p:cNvPr id="37" name="Text 35"/>
          <p:cNvSpPr/>
          <p:nvPr/>
        </p:nvSpPr>
        <p:spPr>
          <a:xfrm>
            <a:off x="6309360" y="4544568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E2A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200" dirty="0"/>
          </a:p>
        </p:txBody>
      </p:sp>
      <p:sp>
        <p:nvSpPr>
          <p:cNvPr id="38" name="Text 36"/>
          <p:cNvSpPr/>
          <p:nvPr/>
        </p:nvSpPr>
        <p:spPr>
          <a:xfrm>
            <a:off x="6711696" y="4498848"/>
            <a:ext cx="507492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 Bedrock award notice through a Guardrail</a:t>
            </a:r>
            <a:endParaRPr lang="en-US" sz="1200" dirty="0"/>
          </a:p>
        </p:txBody>
      </p:sp>
      <p:sp>
        <p:nvSpPr>
          <p:cNvPr id="39" name="Shape 37"/>
          <p:cNvSpPr/>
          <p:nvPr/>
        </p:nvSpPr>
        <p:spPr>
          <a:xfrm>
            <a:off x="6309360" y="5056632"/>
            <a:ext cx="292608" cy="292608"/>
          </a:xfrm>
          <a:prstGeom prst="ellipse">
            <a:avLst/>
          </a:prstGeom>
          <a:solidFill>
            <a:srgbClr val="02C39A"/>
          </a:solidFill>
          <a:ln/>
          <a:effectLst>
            <a:outerShdw sx="100000" sy="100000" kx="0" ky="0" algn="bl" rotWithShape="0" blurRad="76200" dist="25400" dir="5400000">
              <a:srgbClr val="0A1F33">
                <a:alpha val="18000"/>
              </a:srgbClr>
            </a:outerShdw>
          </a:effectLst>
        </p:spPr>
      </p:sp>
      <p:sp>
        <p:nvSpPr>
          <p:cNvPr id="40" name="Text 38"/>
          <p:cNvSpPr/>
          <p:nvPr/>
        </p:nvSpPr>
        <p:spPr>
          <a:xfrm>
            <a:off x="6309360" y="5056632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E2A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200" dirty="0"/>
          </a:p>
        </p:txBody>
      </p:sp>
      <p:sp>
        <p:nvSpPr>
          <p:cNvPr id="41" name="Text 39"/>
          <p:cNvSpPr/>
          <p:nvPr/>
        </p:nvSpPr>
        <p:spPr>
          <a:xfrm>
            <a:off x="6711696" y="5010912"/>
            <a:ext cx="507492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Immutable WORM audit + human sign-off (approver ≠ requester)</a:t>
            </a:r>
            <a:endParaRPr lang="en-US" sz="1200" dirty="0"/>
          </a:p>
        </p:txBody>
      </p:sp>
      <p:sp>
        <p:nvSpPr>
          <p:cNvPr id="42" name="Text 40"/>
          <p:cNvSpPr/>
          <p:nvPr/>
        </p:nvSpPr>
        <p:spPr>
          <a:xfrm>
            <a:off x="548640" y="6455664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6B7A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Governed Agentic AI · Amazon Bedrock AgentCore</a:t>
            </a:r>
            <a:endParaRPr lang="en-US" sz="800" dirty="0"/>
          </a:p>
        </p:txBody>
      </p:sp>
      <p:sp>
        <p:nvSpPr>
          <p:cNvPr id="43" name="Text 41"/>
          <p:cNvSpPr/>
          <p:nvPr/>
        </p:nvSpPr>
        <p:spPr>
          <a:xfrm>
            <a:off x="11338560" y="6419088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A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08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4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256032"/>
            <a:ext cx="10972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NATIVE ON RUNTIME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4114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700" b="1" dirty="0">
                <a:solidFill>
                  <a:srgbClr val="1A27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agent runs on AgentCore Runtime — driven by the aid officer's identity</a:t>
            </a:r>
            <a:endParaRPr lang="en-US" sz="2700" dirty="0"/>
          </a:p>
        </p:txBody>
      </p:sp>
      <p:sp>
        <p:nvSpPr>
          <p:cNvPr id="4" name="Text 2"/>
          <p:cNvSpPr/>
          <p:nvPr/>
        </p:nvSpPr>
        <p:spPr>
          <a:xfrm>
            <a:off x="566928" y="1325880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4000"/>
              </a:lnSpc>
              <a:buNone/>
            </a:pPr>
            <a:r>
              <a:rPr lang="en-US" sz="140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aid officer authenticates with Cognito; that same identity flows to the Gateway, so Cedar evaluates the real person. The agent inherits the aid officer's least-privilege — it can do nothing they aren't allowed to do.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566928" y="2286000"/>
            <a:ext cx="5440680" cy="2148840"/>
          </a:xfrm>
          <a:prstGeom prst="roundRect">
            <a:avLst>
              <a:gd name="adj" fmla="val 4255"/>
            </a:avLst>
          </a:prstGeom>
          <a:solidFill>
            <a:srgbClr val="FFFFFF"/>
          </a:solidFill>
          <a:ln w="12700">
            <a:solidFill>
              <a:srgbClr val="D9E1E8"/>
            </a:solidFill>
            <a:prstDash val="solid"/>
          </a:ln>
          <a:effectLst>
            <a:outerShdw sx="100000" sy="100000" kx="0" ky="0" algn="bl" rotWithShape="0" blurRad="114300" dist="38100" dir="5400000">
              <a:srgbClr val="0A1F33">
                <a:alpha val="22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914400" y="2606040"/>
            <a:ext cx="566928" cy="566928"/>
          </a:xfrm>
          <a:prstGeom prst="ellipse">
            <a:avLst/>
          </a:prstGeom>
          <a:solidFill>
            <a:srgbClr val="02C39A"/>
          </a:solidFill>
          <a:ln/>
          <a:effectLst>
            <a:outerShdw sx="100000" sy="100000" kx="0" ky="0" algn="bl" rotWithShape="0" blurRad="76200" dist="25400" dir="5400000">
              <a:srgbClr val="0A1F33">
                <a:alpha val="18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914400" y="260604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0E2A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2000" dirty="0"/>
          </a:p>
        </p:txBody>
      </p:sp>
      <p:sp>
        <p:nvSpPr>
          <p:cNvPr id="8" name="Text 6"/>
          <p:cNvSpPr/>
          <p:nvPr/>
        </p:nvSpPr>
        <p:spPr>
          <a:xfrm>
            <a:off x="1645920" y="2606040"/>
            <a:ext cx="4206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0E2A4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Aid-officer identity</a:t>
            </a:r>
            <a:endParaRPr lang="en-US" sz="1700" dirty="0"/>
          </a:p>
        </p:txBody>
      </p:sp>
      <p:sp>
        <p:nvSpPr>
          <p:cNvPr id="9" name="Text 7"/>
          <p:cNvSpPr/>
          <p:nvPr/>
        </p:nvSpPr>
        <p:spPr>
          <a:xfrm>
            <a:off x="914400" y="3291840"/>
            <a:ext cx="489204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250" dirty="0">
                <a:solidFill>
                  <a:srgbClr val="3443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Runs the full governed workflow: intake → mask PII → assess aid → draft notice → write audit → request sign-off. The forbidden finalize tool is hidden from the agent entirely by Cedar.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6199632" y="2286000"/>
            <a:ext cx="5440680" cy="2148840"/>
          </a:xfrm>
          <a:prstGeom prst="roundRect">
            <a:avLst>
              <a:gd name="adj" fmla="val 4255"/>
            </a:avLst>
          </a:prstGeom>
          <a:solidFill>
            <a:srgbClr val="FFFFFF"/>
          </a:solidFill>
          <a:ln w="12700">
            <a:solidFill>
              <a:srgbClr val="D9E1E8"/>
            </a:solidFill>
            <a:prstDash val="solid"/>
          </a:ln>
          <a:effectLst>
            <a:outerShdw sx="100000" sy="100000" kx="0" ky="0" algn="bl" rotWithShape="0" blurRad="114300" dist="38100" dir="5400000">
              <a:srgbClr val="0A1F33">
                <a:alpha val="22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6547104" y="2606040"/>
            <a:ext cx="566928" cy="566928"/>
          </a:xfrm>
          <a:prstGeom prst="ellipse">
            <a:avLst/>
          </a:prstGeom>
          <a:solidFill>
            <a:srgbClr val="C0392B"/>
          </a:solidFill>
          <a:ln/>
          <a:effectLst>
            <a:outerShdw sx="100000" sy="100000" kx="0" ky="0" algn="bl" rotWithShape="0" blurRad="76200" dist="25400" dir="5400000">
              <a:srgbClr val="0A1F33">
                <a:alpha val="18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6547104" y="260604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✕</a:t>
            </a:r>
            <a:endParaRPr lang="en-US" sz="2000" dirty="0"/>
          </a:p>
        </p:txBody>
      </p:sp>
      <p:sp>
        <p:nvSpPr>
          <p:cNvPr id="13" name="Text 11"/>
          <p:cNvSpPr/>
          <p:nvPr/>
        </p:nvSpPr>
        <p:spPr>
          <a:xfrm>
            <a:off x="7278624" y="2606040"/>
            <a:ext cx="4206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0E2A4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Outsider identity</a:t>
            </a:r>
            <a:endParaRPr lang="en-US" sz="1700" dirty="0"/>
          </a:p>
        </p:txBody>
      </p:sp>
      <p:sp>
        <p:nvSpPr>
          <p:cNvPr id="14" name="Text 12"/>
          <p:cNvSpPr/>
          <p:nvPr/>
        </p:nvSpPr>
        <p:spPr>
          <a:xfrm>
            <a:off x="6547104" y="3291840"/>
            <a:ext cx="489204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250" dirty="0">
                <a:solidFill>
                  <a:srgbClr val="3443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Access denied — zero authorized tools. The agent honestly reports it did nothing: nothing masked, assessed, drafted, audited, or committed. Deny-by-default holds even when the agent is driving.</a:t>
            </a:r>
            <a:endParaRPr lang="en-US" sz="1250" dirty="0"/>
          </a:p>
        </p:txBody>
      </p:sp>
      <p:sp>
        <p:nvSpPr>
          <p:cNvPr id="15" name="Shape 13"/>
          <p:cNvSpPr/>
          <p:nvPr/>
        </p:nvSpPr>
        <p:spPr>
          <a:xfrm>
            <a:off x="566928" y="4663440"/>
            <a:ext cx="5440680" cy="914400"/>
          </a:xfrm>
          <a:prstGeom prst="roundRect">
            <a:avLst>
              <a:gd name="adj" fmla="val 9000"/>
            </a:avLst>
          </a:prstGeom>
          <a:solidFill>
            <a:srgbClr val="0E2A47"/>
          </a:solidFill>
          <a:ln/>
          <a:effectLst>
            <a:outerShdw sx="100000" sy="100000" kx="0" ky="0" algn="bl" rotWithShape="0" blurRad="114300" dist="38100" dir="5400000">
              <a:srgbClr val="0A1F33">
                <a:alpha val="22000"/>
              </a:srgbClr>
            </a:outerShdw>
          </a:effectLst>
        </p:spPr>
      </p:sp>
      <p:sp>
        <p:nvSpPr>
          <p:cNvPr id="16" name="Text 14"/>
          <p:cNvSpPr/>
          <p:nvPr/>
        </p:nvSpPr>
        <p:spPr>
          <a:xfrm>
            <a:off x="841248" y="4791456"/>
            <a:ext cx="49377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50" kern="0" dirty="0">
                <a:solidFill>
                  <a:srgbClr val="02C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OBSERVABLE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841248" y="5084064"/>
            <a:ext cx="4937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2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OpenTelemetry spans + structured logs per step, correlated to the identity, in CloudWatch.</a:t>
            </a:r>
            <a:endParaRPr lang="en-US" sz="1200" dirty="0"/>
          </a:p>
        </p:txBody>
      </p:sp>
      <p:sp>
        <p:nvSpPr>
          <p:cNvPr id="18" name="Shape 16"/>
          <p:cNvSpPr/>
          <p:nvPr/>
        </p:nvSpPr>
        <p:spPr>
          <a:xfrm>
            <a:off x="6199632" y="4663440"/>
            <a:ext cx="5440680" cy="914400"/>
          </a:xfrm>
          <a:prstGeom prst="roundRect">
            <a:avLst>
              <a:gd name="adj" fmla="val 9000"/>
            </a:avLst>
          </a:prstGeom>
          <a:solidFill>
            <a:srgbClr val="0E2A47"/>
          </a:solidFill>
          <a:ln/>
          <a:effectLst>
            <a:outerShdw sx="100000" sy="100000" kx="0" ky="0" algn="bl" rotWithShape="0" blurRad="114300" dist="38100" dir="5400000">
              <a:srgbClr val="0A1F33">
                <a:alpha val="22000"/>
              </a:srgbClr>
            </a:outerShdw>
          </a:effectLst>
        </p:spPr>
      </p:sp>
      <p:sp>
        <p:nvSpPr>
          <p:cNvPr id="19" name="Text 17"/>
          <p:cNvSpPr/>
          <p:nvPr/>
        </p:nvSpPr>
        <p:spPr>
          <a:xfrm>
            <a:off x="6473952" y="4791456"/>
            <a:ext cx="49377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50" kern="0" dirty="0">
                <a:solidFill>
                  <a:srgbClr val="02C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DECOUPLED</a:t>
            </a:r>
            <a:endParaRPr lang="en-US" sz="1200" dirty="0"/>
          </a:p>
        </p:txBody>
      </p:sp>
      <p:sp>
        <p:nvSpPr>
          <p:cNvPr id="20" name="Text 18"/>
          <p:cNvSpPr/>
          <p:nvPr/>
        </p:nvSpPr>
        <p:spPr>
          <a:xfrm>
            <a:off x="6473952" y="5084064"/>
            <a:ext cx="4937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2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Stable identity + dynamic gateway discovery: the runtime survives redeploys untouched.</a:t>
            </a:r>
            <a:endParaRPr lang="en-US" sz="1200" dirty="0"/>
          </a:p>
        </p:txBody>
      </p:sp>
      <p:sp>
        <p:nvSpPr>
          <p:cNvPr id="21" name="Text 19"/>
          <p:cNvSpPr/>
          <p:nvPr/>
        </p:nvSpPr>
        <p:spPr>
          <a:xfrm>
            <a:off x="548640" y="6455664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6B7A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Governed Agentic AI · Amazon Bedrock AgentCore</a:t>
            </a:r>
            <a:endParaRPr lang="en-US" sz="800" dirty="0"/>
          </a:p>
        </p:txBody>
      </p:sp>
      <p:sp>
        <p:nvSpPr>
          <p:cNvPr id="22" name="Text 20"/>
          <p:cNvSpPr/>
          <p:nvPr/>
        </p:nvSpPr>
        <p:spPr>
          <a:xfrm>
            <a:off x="11338560" y="6419088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A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09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4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256032"/>
            <a:ext cx="10972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E8A1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REGULATED LAST MILE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4114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700" b="1" dirty="0">
                <a:solidFill>
                  <a:srgbClr val="1A27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Three controls we build on top — the review-passing difference</a:t>
            </a:r>
            <a:endParaRPr lang="en-US" sz="2700" dirty="0"/>
          </a:p>
        </p:txBody>
      </p:sp>
      <p:sp>
        <p:nvSpPr>
          <p:cNvPr id="4" name="Shape 2"/>
          <p:cNvSpPr/>
          <p:nvPr/>
        </p:nvSpPr>
        <p:spPr>
          <a:xfrm>
            <a:off x="566928" y="1600200"/>
            <a:ext cx="3529584" cy="3840480"/>
          </a:xfrm>
          <a:prstGeom prst="roundRect">
            <a:avLst>
              <a:gd name="adj" fmla="val 2591"/>
            </a:avLst>
          </a:prstGeom>
          <a:solidFill>
            <a:srgbClr val="FFFFFF"/>
          </a:solidFill>
          <a:ln w="12700">
            <a:solidFill>
              <a:srgbClr val="D9E1E8"/>
            </a:solidFill>
            <a:prstDash val="solid"/>
          </a:ln>
          <a:effectLst>
            <a:outerShdw sx="100000" sy="100000" kx="0" ky="0" algn="bl" rotWithShape="0" blurRad="114300" dist="38100" dir="5400000">
              <a:srgbClr val="0A1F33">
                <a:alpha val="22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877824" y="1929384"/>
            <a:ext cx="658368" cy="658368"/>
          </a:xfrm>
          <a:prstGeom prst="ellipse">
            <a:avLst/>
          </a:prstGeom>
          <a:solidFill>
            <a:srgbClr val="1C7293"/>
          </a:solidFill>
          <a:ln/>
          <a:effectLst>
            <a:outerShdw sx="100000" sy="100000" kx="0" ky="0" algn="bl" rotWithShape="0" blurRad="76200" dist="25400" dir="5400000">
              <a:srgbClr val="0A1F33">
                <a:alpha val="18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877824" y="1929384"/>
            <a:ext cx="65836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1664208" y="1984248"/>
            <a:ext cx="229514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8000"/>
              </a:lnSpc>
              <a:buNone/>
            </a:pPr>
            <a:r>
              <a:rPr lang="en-US" sz="1500" b="1" dirty="0">
                <a:solidFill>
                  <a:srgbClr val="0E2A4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Fail-closed PII de-identification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877824" y="2834640"/>
            <a:ext cx="290779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FERPA · GLBA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877824" y="3291840"/>
            <a:ext cx="2907792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260" dirty="0">
                <a:solidFill>
                  <a:srgbClr val="3443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Comprehend de-identifies the application before the model or the audit sees it. If masking can't run, assessment and drafting are blocked — no un-masked PII is ever emitted.</a:t>
            </a:r>
            <a:endParaRPr lang="en-US" sz="1260" dirty="0"/>
          </a:p>
        </p:txBody>
      </p:sp>
      <p:sp>
        <p:nvSpPr>
          <p:cNvPr id="10" name="Shape 8"/>
          <p:cNvSpPr/>
          <p:nvPr/>
        </p:nvSpPr>
        <p:spPr>
          <a:xfrm>
            <a:off x="4315968" y="1600200"/>
            <a:ext cx="3529584" cy="3840480"/>
          </a:xfrm>
          <a:prstGeom prst="roundRect">
            <a:avLst>
              <a:gd name="adj" fmla="val 2591"/>
            </a:avLst>
          </a:prstGeom>
          <a:solidFill>
            <a:srgbClr val="FFFFFF"/>
          </a:solidFill>
          <a:ln w="12700">
            <a:solidFill>
              <a:srgbClr val="D9E1E8"/>
            </a:solidFill>
            <a:prstDash val="solid"/>
          </a:ln>
          <a:effectLst>
            <a:outerShdw sx="100000" sy="100000" kx="0" ky="0" algn="bl" rotWithShape="0" blurRad="114300" dist="38100" dir="5400000">
              <a:srgbClr val="0A1F33">
                <a:alpha val="22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4626864" y="1929384"/>
            <a:ext cx="658368" cy="658368"/>
          </a:xfrm>
          <a:prstGeom prst="ellipse">
            <a:avLst/>
          </a:prstGeom>
          <a:solidFill>
            <a:srgbClr val="E8A13A"/>
          </a:solidFill>
          <a:ln/>
          <a:effectLst>
            <a:outerShdw sx="100000" sy="100000" kx="0" ky="0" algn="bl" rotWithShape="0" blurRad="76200" dist="25400" dir="5400000">
              <a:srgbClr val="0A1F33">
                <a:alpha val="18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4626864" y="1929384"/>
            <a:ext cx="65836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600" dirty="0"/>
          </a:p>
        </p:txBody>
      </p:sp>
      <p:sp>
        <p:nvSpPr>
          <p:cNvPr id="13" name="Text 11"/>
          <p:cNvSpPr/>
          <p:nvPr/>
        </p:nvSpPr>
        <p:spPr>
          <a:xfrm>
            <a:off x="5413248" y="1984248"/>
            <a:ext cx="229514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8000"/>
              </a:lnSpc>
              <a:buNone/>
            </a:pPr>
            <a:r>
              <a:rPr lang="en-US" sz="1500" b="1" dirty="0">
                <a:solidFill>
                  <a:srgbClr val="0E2A4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Human sign-off gate</a:t>
            </a:r>
            <a:endParaRPr lang="en-US" sz="1500" dirty="0"/>
          </a:p>
        </p:txBody>
      </p:sp>
      <p:sp>
        <p:nvSpPr>
          <p:cNvPr id="14" name="Text 12"/>
          <p:cNvSpPr/>
          <p:nvPr/>
        </p:nvSpPr>
        <p:spPr>
          <a:xfrm>
            <a:off x="4626864" y="2834640"/>
            <a:ext cx="290779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E8A1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Title IV · separation of duties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4626864" y="3291840"/>
            <a:ext cx="2907792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260" dirty="0">
                <a:solidFill>
                  <a:srgbClr val="3443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Committing an award is never an inline tool call. A Step Functions gate pauses for a different qualified aid officer, who approves with a bound, single-use token.</a:t>
            </a:r>
            <a:endParaRPr lang="en-US" sz="1260" dirty="0"/>
          </a:p>
        </p:txBody>
      </p:sp>
      <p:sp>
        <p:nvSpPr>
          <p:cNvPr id="16" name="Shape 14"/>
          <p:cNvSpPr/>
          <p:nvPr/>
        </p:nvSpPr>
        <p:spPr>
          <a:xfrm>
            <a:off x="8065008" y="1600200"/>
            <a:ext cx="3529584" cy="3840480"/>
          </a:xfrm>
          <a:prstGeom prst="roundRect">
            <a:avLst>
              <a:gd name="adj" fmla="val 2591"/>
            </a:avLst>
          </a:prstGeom>
          <a:solidFill>
            <a:srgbClr val="FFFFFF"/>
          </a:solidFill>
          <a:ln w="12700">
            <a:solidFill>
              <a:srgbClr val="D9E1E8"/>
            </a:solidFill>
            <a:prstDash val="solid"/>
          </a:ln>
          <a:effectLst>
            <a:outerShdw sx="100000" sy="100000" kx="0" ky="0" algn="bl" rotWithShape="0" blurRad="114300" dist="38100" dir="5400000">
              <a:srgbClr val="0A1F33">
                <a:alpha val="22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8375904" y="1929384"/>
            <a:ext cx="658368" cy="658368"/>
          </a:xfrm>
          <a:prstGeom prst="ellipse">
            <a:avLst/>
          </a:prstGeom>
          <a:solidFill>
            <a:srgbClr val="02C39A"/>
          </a:solidFill>
          <a:ln/>
          <a:effectLst>
            <a:outerShdw sx="100000" sy="100000" kx="0" ky="0" algn="bl" rotWithShape="0" blurRad="76200" dist="25400" dir="5400000">
              <a:srgbClr val="0A1F33">
                <a:alpha val="18000"/>
              </a:srgbClr>
            </a:outerShdw>
          </a:effectLst>
        </p:spPr>
      </p:sp>
      <p:sp>
        <p:nvSpPr>
          <p:cNvPr id="18" name="Text 16"/>
          <p:cNvSpPr/>
          <p:nvPr/>
        </p:nvSpPr>
        <p:spPr>
          <a:xfrm>
            <a:off x="8375904" y="1929384"/>
            <a:ext cx="65836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600" dirty="0"/>
          </a:p>
        </p:txBody>
      </p:sp>
      <p:sp>
        <p:nvSpPr>
          <p:cNvPr id="19" name="Text 17"/>
          <p:cNvSpPr/>
          <p:nvPr/>
        </p:nvSpPr>
        <p:spPr>
          <a:xfrm>
            <a:off x="9162288" y="1984248"/>
            <a:ext cx="229514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8000"/>
              </a:lnSpc>
              <a:buNone/>
            </a:pPr>
            <a:r>
              <a:rPr lang="en-US" sz="1500" b="1" dirty="0">
                <a:solidFill>
                  <a:srgbClr val="0E2A4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Immutable WORM audit</a:t>
            </a:r>
            <a:endParaRPr lang="en-US" sz="1500" dirty="0"/>
          </a:p>
        </p:txBody>
      </p:sp>
      <p:sp>
        <p:nvSpPr>
          <p:cNvPr id="20" name="Text 18"/>
          <p:cNvSpPr/>
          <p:nvPr/>
        </p:nvSpPr>
        <p:spPr>
          <a:xfrm>
            <a:off x="8375904" y="2834640"/>
            <a:ext cx="290779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2C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Program-review evidence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8375904" y="3291840"/>
            <a:ext cx="2907792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260" dirty="0">
                <a:solidFill>
                  <a:srgbClr val="3443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Append-only DynamoDB + S3 Object Lock capture INTENT → COMMITTED. The principal that writes evidence is denied delete, update, and bypass.</a:t>
            </a:r>
            <a:endParaRPr lang="en-US" sz="1260" dirty="0"/>
          </a:p>
        </p:txBody>
      </p:sp>
      <p:sp>
        <p:nvSpPr>
          <p:cNvPr id="22" name="Text 20"/>
          <p:cNvSpPr/>
          <p:nvPr/>
        </p:nvSpPr>
        <p:spPr>
          <a:xfrm>
            <a:off x="566928" y="5669280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i="1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AgentCore's Observability traces are for operations — not tamper-proof evidence. That gap is exactly why the WORM audit is a control, not a log.</a:t>
            </a:r>
            <a:endParaRPr lang="en-US" sz="1250" dirty="0"/>
          </a:p>
        </p:txBody>
      </p:sp>
      <p:sp>
        <p:nvSpPr>
          <p:cNvPr id="23" name="Text 21"/>
          <p:cNvSpPr/>
          <p:nvPr/>
        </p:nvSpPr>
        <p:spPr>
          <a:xfrm>
            <a:off x="548640" y="6455664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6B7A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Governed Agentic AI · Amazon Bedrock AgentCore</a:t>
            </a:r>
            <a:endParaRPr lang="en-US" sz="800" dirty="0"/>
          </a:p>
        </p:txBody>
      </p:sp>
      <p:sp>
        <p:nvSpPr>
          <p:cNvPr id="24" name="Text 22"/>
          <p:cNvSpPr/>
          <p:nvPr/>
        </p:nvSpPr>
        <p:spPr>
          <a:xfrm>
            <a:off x="11338560" y="6419088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A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</a:t>
            </a:r>
            <a:endParaRPr lang="en-US" sz="9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4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256032"/>
            <a:ext cx="10972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STRATEGIC VALUE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4114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700" b="1" dirty="0">
                <a:solidFill>
                  <a:srgbClr val="1A27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Why this matters for AWS</a:t>
            </a:r>
            <a:endParaRPr lang="en-US" sz="2700" dirty="0"/>
          </a:p>
        </p:txBody>
      </p:sp>
      <p:sp>
        <p:nvSpPr>
          <p:cNvPr id="4" name="Shape 2"/>
          <p:cNvSpPr/>
          <p:nvPr/>
        </p:nvSpPr>
        <p:spPr>
          <a:xfrm>
            <a:off x="566928" y="1508760"/>
            <a:ext cx="5440680" cy="1874520"/>
          </a:xfrm>
          <a:prstGeom prst="roundRect">
            <a:avLst>
              <a:gd name="adj" fmla="val 4878"/>
            </a:avLst>
          </a:prstGeom>
          <a:solidFill>
            <a:srgbClr val="FFFFFF"/>
          </a:solidFill>
          <a:ln w="12700">
            <a:solidFill>
              <a:srgbClr val="D9E1E8"/>
            </a:solidFill>
            <a:prstDash val="solid"/>
          </a:ln>
          <a:effectLst>
            <a:outerShdw sx="100000" sy="100000" kx="0" ky="0" algn="bl" rotWithShape="0" blurRad="114300" dist="38100" dir="5400000">
              <a:srgbClr val="0A1F33">
                <a:alpha val="22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877824" y="1837944"/>
            <a:ext cx="548640" cy="548640"/>
          </a:xfrm>
          <a:prstGeom prst="ellipse">
            <a:avLst/>
          </a:prstGeom>
          <a:solidFill>
            <a:srgbClr val="1C7293"/>
          </a:solidFill>
          <a:ln/>
          <a:effectLst>
            <a:outerShdw sx="100000" sy="100000" kx="0" ky="0" algn="bl" rotWithShape="0" blurRad="76200" dist="25400" dir="5400000">
              <a:srgbClr val="0A1F33">
                <a:alpha val="18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877824" y="1837944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1591056" y="1801368"/>
            <a:ext cx="42519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8000"/>
              </a:lnSpc>
              <a:buNone/>
            </a:pPr>
            <a:r>
              <a:rPr lang="en-US" sz="1500" b="1" dirty="0">
                <a:solidFill>
                  <a:srgbClr val="0E2A4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Wins the higher-ed bar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877824" y="2587752"/>
            <a:ext cx="4837176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240" dirty="0">
                <a:solidFill>
                  <a:srgbClr val="3443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Colleges and universities carry strict FERPA, GLBA, and Title IV program-integrity requirements — native governance is the deciding factor, and AWS already holds the compliance footprint.</a:t>
            </a:r>
            <a:endParaRPr lang="en-US" sz="1240" dirty="0"/>
          </a:p>
        </p:txBody>
      </p:sp>
      <p:sp>
        <p:nvSpPr>
          <p:cNvPr id="9" name="Shape 7"/>
          <p:cNvSpPr/>
          <p:nvPr/>
        </p:nvSpPr>
        <p:spPr>
          <a:xfrm>
            <a:off x="6227064" y="1508760"/>
            <a:ext cx="5440680" cy="1874520"/>
          </a:xfrm>
          <a:prstGeom prst="roundRect">
            <a:avLst>
              <a:gd name="adj" fmla="val 4878"/>
            </a:avLst>
          </a:prstGeom>
          <a:solidFill>
            <a:srgbClr val="FFFFFF"/>
          </a:solidFill>
          <a:ln w="12700">
            <a:solidFill>
              <a:srgbClr val="D9E1E8"/>
            </a:solidFill>
            <a:prstDash val="solid"/>
          </a:ln>
          <a:effectLst>
            <a:outerShdw sx="100000" sy="100000" kx="0" ky="0" algn="bl" rotWithShape="0" blurRad="114300" dist="38100" dir="5400000">
              <a:srgbClr val="0A1F33">
                <a:alpha val="22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6537960" y="1837944"/>
            <a:ext cx="548640" cy="548640"/>
          </a:xfrm>
          <a:prstGeom prst="ellipse">
            <a:avLst/>
          </a:prstGeom>
          <a:solidFill>
            <a:srgbClr val="02C39A"/>
          </a:solidFill>
          <a:ln/>
          <a:effectLst>
            <a:outerShdw sx="100000" sy="100000" kx="0" ky="0" algn="bl" rotWithShape="0" blurRad="76200" dist="25400" dir="5400000">
              <a:srgbClr val="0A1F33">
                <a:alpha val="18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6537960" y="1837944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600" dirty="0"/>
          </a:p>
        </p:txBody>
      </p:sp>
      <p:sp>
        <p:nvSpPr>
          <p:cNvPr id="12" name="Text 10"/>
          <p:cNvSpPr/>
          <p:nvPr/>
        </p:nvSpPr>
        <p:spPr>
          <a:xfrm>
            <a:off x="7251192" y="1801368"/>
            <a:ext cx="42519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8000"/>
              </a:lnSpc>
              <a:buNone/>
            </a:pPr>
            <a:r>
              <a:rPr lang="en-US" sz="1500" b="1" dirty="0">
                <a:solidFill>
                  <a:srgbClr val="0E2A4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repeatable pattern, proven three times</a:t>
            </a:r>
            <a:endParaRPr lang="en-US" sz="1500" dirty="0"/>
          </a:p>
        </p:txBody>
      </p:sp>
      <p:sp>
        <p:nvSpPr>
          <p:cNvPr id="13" name="Text 11"/>
          <p:cNvSpPr/>
          <p:nvPr/>
        </p:nvSpPr>
        <p:spPr>
          <a:xfrm>
            <a:off x="6537960" y="2587752"/>
            <a:ext cx="4837176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240" dirty="0">
                <a:solidFill>
                  <a:srgbClr val="3443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same governed chassis produced the pharmacovigilance, benefits, and financial-aid agents from one template — swap domain logic and fixtures.</a:t>
            </a:r>
            <a:endParaRPr lang="en-US" sz="1240" dirty="0"/>
          </a:p>
        </p:txBody>
      </p:sp>
      <p:sp>
        <p:nvSpPr>
          <p:cNvPr id="14" name="Shape 12"/>
          <p:cNvSpPr/>
          <p:nvPr/>
        </p:nvSpPr>
        <p:spPr>
          <a:xfrm>
            <a:off x="566928" y="3602736"/>
            <a:ext cx="5440680" cy="1874520"/>
          </a:xfrm>
          <a:prstGeom prst="roundRect">
            <a:avLst>
              <a:gd name="adj" fmla="val 4878"/>
            </a:avLst>
          </a:prstGeom>
          <a:solidFill>
            <a:srgbClr val="FFFFFF"/>
          </a:solidFill>
          <a:ln w="12700">
            <a:solidFill>
              <a:srgbClr val="D9E1E8"/>
            </a:solidFill>
            <a:prstDash val="solid"/>
          </a:ln>
          <a:effectLst>
            <a:outerShdw sx="100000" sy="100000" kx="0" ky="0" algn="bl" rotWithShape="0" blurRad="114300" dist="38100" dir="5400000">
              <a:srgbClr val="0A1F33">
                <a:alpha val="22000"/>
              </a:srgbClr>
            </a:outerShdw>
          </a:effectLst>
        </p:spPr>
      </p:sp>
      <p:sp>
        <p:nvSpPr>
          <p:cNvPr id="15" name="Shape 13"/>
          <p:cNvSpPr/>
          <p:nvPr/>
        </p:nvSpPr>
        <p:spPr>
          <a:xfrm>
            <a:off x="877824" y="3931920"/>
            <a:ext cx="548640" cy="548640"/>
          </a:xfrm>
          <a:prstGeom prst="ellipse">
            <a:avLst/>
          </a:prstGeom>
          <a:solidFill>
            <a:srgbClr val="E8A13A"/>
          </a:solidFill>
          <a:ln/>
          <a:effectLst>
            <a:outerShdw sx="100000" sy="100000" kx="0" ky="0" algn="bl" rotWithShape="0" blurRad="76200" dist="25400" dir="5400000">
              <a:srgbClr val="0A1F33">
                <a:alpha val="18000"/>
              </a:srgbClr>
            </a:outerShdw>
          </a:effectLst>
        </p:spPr>
      </p:sp>
      <p:sp>
        <p:nvSpPr>
          <p:cNvPr id="16" name="Text 14"/>
          <p:cNvSpPr/>
          <p:nvPr/>
        </p:nvSpPr>
        <p:spPr>
          <a:xfrm>
            <a:off x="877824" y="393192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600" dirty="0"/>
          </a:p>
        </p:txBody>
      </p:sp>
      <p:sp>
        <p:nvSpPr>
          <p:cNvPr id="17" name="Text 15"/>
          <p:cNvSpPr/>
          <p:nvPr/>
        </p:nvSpPr>
        <p:spPr>
          <a:xfrm>
            <a:off x="1591056" y="3895344"/>
            <a:ext cx="42519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8000"/>
              </a:lnSpc>
              <a:buNone/>
            </a:pPr>
            <a:r>
              <a:rPr lang="en-US" sz="1500" b="1" dirty="0">
                <a:solidFill>
                  <a:srgbClr val="0E2A4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Low blast radius, high credibility</a:t>
            </a:r>
            <a:endParaRPr lang="en-US" sz="1500" dirty="0"/>
          </a:p>
        </p:txBody>
      </p:sp>
      <p:sp>
        <p:nvSpPr>
          <p:cNvPr id="18" name="Text 16"/>
          <p:cNvSpPr/>
          <p:nvPr/>
        </p:nvSpPr>
        <p:spPr>
          <a:xfrm>
            <a:off x="877824" y="4681728"/>
            <a:ext cx="4837176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240" dirty="0">
                <a:solidFill>
                  <a:srgbClr val="3443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deep, proven hero per vertical beats a claim of forty shallow agents. Reference-grade, not vaporware.</a:t>
            </a:r>
            <a:endParaRPr lang="en-US" sz="1240" dirty="0"/>
          </a:p>
        </p:txBody>
      </p:sp>
      <p:sp>
        <p:nvSpPr>
          <p:cNvPr id="19" name="Shape 17"/>
          <p:cNvSpPr/>
          <p:nvPr/>
        </p:nvSpPr>
        <p:spPr>
          <a:xfrm>
            <a:off x="6227064" y="3602736"/>
            <a:ext cx="5440680" cy="1874520"/>
          </a:xfrm>
          <a:prstGeom prst="roundRect">
            <a:avLst>
              <a:gd name="adj" fmla="val 4878"/>
            </a:avLst>
          </a:prstGeom>
          <a:solidFill>
            <a:srgbClr val="FFFFFF"/>
          </a:solidFill>
          <a:ln w="12700">
            <a:solidFill>
              <a:srgbClr val="D9E1E8"/>
            </a:solidFill>
            <a:prstDash val="solid"/>
          </a:ln>
          <a:effectLst>
            <a:outerShdw sx="100000" sy="100000" kx="0" ky="0" algn="bl" rotWithShape="0" blurRad="114300" dist="38100" dir="5400000">
              <a:srgbClr val="0A1F33">
                <a:alpha val="22000"/>
              </a:srgbClr>
            </a:outerShdw>
          </a:effectLst>
        </p:spPr>
      </p:sp>
      <p:sp>
        <p:nvSpPr>
          <p:cNvPr id="20" name="Shape 18"/>
          <p:cNvSpPr/>
          <p:nvPr/>
        </p:nvSpPr>
        <p:spPr>
          <a:xfrm>
            <a:off x="6537960" y="3931920"/>
            <a:ext cx="548640" cy="548640"/>
          </a:xfrm>
          <a:prstGeom prst="ellipse">
            <a:avLst/>
          </a:prstGeom>
          <a:solidFill>
            <a:srgbClr val="0E2A47"/>
          </a:solidFill>
          <a:ln/>
          <a:effectLst>
            <a:outerShdw sx="100000" sy="100000" kx="0" ky="0" algn="bl" rotWithShape="0" blurRad="76200" dist="25400" dir="5400000">
              <a:srgbClr val="0A1F33">
                <a:alpha val="18000"/>
              </a:srgbClr>
            </a:outerShdw>
          </a:effectLst>
        </p:spPr>
      </p:sp>
      <p:sp>
        <p:nvSpPr>
          <p:cNvPr id="21" name="Text 19"/>
          <p:cNvSpPr/>
          <p:nvPr/>
        </p:nvSpPr>
        <p:spPr>
          <a:xfrm>
            <a:off x="6537960" y="393192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600" dirty="0"/>
          </a:p>
        </p:txBody>
      </p:sp>
      <p:sp>
        <p:nvSpPr>
          <p:cNvPr id="22" name="Text 20"/>
          <p:cNvSpPr/>
          <p:nvPr/>
        </p:nvSpPr>
        <p:spPr>
          <a:xfrm>
            <a:off x="7251192" y="3895344"/>
            <a:ext cx="42519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8000"/>
              </a:lnSpc>
              <a:buNone/>
            </a:pPr>
            <a:r>
              <a:rPr lang="en-US" sz="1500" b="1" dirty="0">
                <a:solidFill>
                  <a:srgbClr val="0E2A4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Honest by construction</a:t>
            </a:r>
            <a:endParaRPr lang="en-US" sz="1500" dirty="0"/>
          </a:p>
        </p:txBody>
      </p:sp>
      <p:sp>
        <p:nvSpPr>
          <p:cNvPr id="23" name="Text 21"/>
          <p:cNvSpPr/>
          <p:nvPr/>
        </p:nvSpPr>
        <p:spPr>
          <a:xfrm>
            <a:off x="6537960" y="4681728"/>
            <a:ext cx="4837176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240" dirty="0">
                <a:solidFill>
                  <a:srgbClr val="3443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It's clear about what's proven vs. engagement work — exactly what institutions and their auditors trust.</a:t>
            </a:r>
            <a:endParaRPr lang="en-US" sz="1240" dirty="0"/>
          </a:p>
        </p:txBody>
      </p:sp>
      <p:sp>
        <p:nvSpPr>
          <p:cNvPr id="24" name="Text 22"/>
          <p:cNvSpPr/>
          <p:nvPr/>
        </p:nvSpPr>
        <p:spPr>
          <a:xfrm>
            <a:off x="548640" y="6455664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6B7A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Governed Agentic AI · Amazon Bedrock AgentCore</a:t>
            </a:r>
            <a:endParaRPr lang="en-US" sz="800" dirty="0"/>
          </a:p>
        </p:txBody>
      </p:sp>
      <p:sp>
        <p:nvSpPr>
          <p:cNvPr id="25" name="Text 23"/>
          <p:cNvSpPr/>
          <p:nvPr/>
        </p:nvSpPr>
        <p:spPr>
          <a:xfrm>
            <a:off x="11338560" y="6419088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A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</a:t>
            </a:r>
            <a:endParaRPr lang="en-US" sz="9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4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256032"/>
            <a:ext cx="10972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CREDIBILITY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4114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700" b="1" dirty="0">
                <a:solidFill>
                  <a:srgbClr val="1A27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What's proven vs. what's engagement work</a:t>
            </a:r>
            <a:endParaRPr lang="en-US" sz="2700" dirty="0"/>
          </a:p>
        </p:txBody>
      </p:sp>
      <p:sp>
        <p:nvSpPr>
          <p:cNvPr id="4" name="Shape 2"/>
          <p:cNvSpPr/>
          <p:nvPr/>
        </p:nvSpPr>
        <p:spPr>
          <a:xfrm>
            <a:off x="566928" y="1463040"/>
            <a:ext cx="5440680" cy="3794760"/>
          </a:xfrm>
          <a:prstGeom prst="roundRect">
            <a:avLst>
              <a:gd name="adj" fmla="val 2410"/>
            </a:avLst>
          </a:prstGeom>
          <a:solidFill>
            <a:srgbClr val="FFFFFF"/>
          </a:solidFill>
          <a:ln w="12700">
            <a:solidFill>
              <a:srgbClr val="D9E1E8"/>
            </a:solidFill>
            <a:prstDash val="solid"/>
          </a:ln>
          <a:effectLst>
            <a:outerShdw sx="100000" sy="100000" kx="0" ky="0" algn="bl" rotWithShape="0" blurRad="114300" dist="38100" dir="5400000">
              <a:srgbClr val="0A1F33">
                <a:alpha val="22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868680" y="1691640"/>
            <a:ext cx="4846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spc="100" kern="0" dirty="0">
                <a:solidFill>
                  <a:srgbClr val="02C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ACCELERATOR OWNS  ·  PROVEN</a:t>
            </a:r>
            <a:endParaRPr lang="en-US" sz="1250" dirty="0"/>
          </a:p>
        </p:txBody>
      </p:sp>
      <p:sp>
        <p:nvSpPr>
          <p:cNvPr id="6" name="Shape 4"/>
          <p:cNvSpPr/>
          <p:nvPr/>
        </p:nvSpPr>
        <p:spPr>
          <a:xfrm>
            <a:off x="896112" y="2240280"/>
            <a:ext cx="292608" cy="292608"/>
          </a:xfrm>
          <a:prstGeom prst="ellipse">
            <a:avLst/>
          </a:prstGeom>
          <a:solidFill>
            <a:srgbClr val="02C39A"/>
          </a:solidFill>
          <a:ln/>
          <a:effectLst>
            <a:outerShdw sx="100000" sy="100000" kx="0" ky="0" algn="bl" rotWithShape="0" blurRad="76200" dist="25400" dir="5400000">
              <a:srgbClr val="0A1F33">
                <a:alpha val="18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896112" y="2240280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E2A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1298448" y="2194560"/>
            <a:ext cx="45262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agent + the Cedar policies</a:t>
            </a:r>
            <a:endParaRPr lang="en-US" sz="1250" dirty="0"/>
          </a:p>
        </p:txBody>
      </p:sp>
      <p:sp>
        <p:nvSpPr>
          <p:cNvPr id="9" name="Shape 7"/>
          <p:cNvSpPr/>
          <p:nvPr/>
        </p:nvSpPr>
        <p:spPr>
          <a:xfrm>
            <a:off x="896112" y="2724912"/>
            <a:ext cx="292608" cy="292608"/>
          </a:xfrm>
          <a:prstGeom prst="ellipse">
            <a:avLst/>
          </a:prstGeom>
          <a:solidFill>
            <a:srgbClr val="02C39A"/>
          </a:solidFill>
          <a:ln/>
          <a:effectLst>
            <a:outerShdw sx="100000" sy="100000" kx="0" ky="0" algn="bl" rotWithShape="0" blurRad="76200" dist="25400" dir="5400000">
              <a:srgbClr val="0A1F33">
                <a:alpha val="18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896112" y="2724912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E2A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1298448" y="2679192"/>
            <a:ext cx="45262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six tools + fail-closed masking</a:t>
            </a:r>
            <a:endParaRPr lang="en-US" sz="1250" dirty="0"/>
          </a:p>
        </p:txBody>
      </p:sp>
      <p:sp>
        <p:nvSpPr>
          <p:cNvPr id="12" name="Shape 10"/>
          <p:cNvSpPr/>
          <p:nvPr/>
        </p:nvSpPr>
        <p:spPr>
          <a:xfrm>
            <a:off x="896112" y="3209544"/>
            <a:ext cx="292608" cy="292608"/>
          </a:xfrm>
          <a:prstGeom prst="ellipse">
            <a:avLst/>
          </a:prstGeom>
          <a:solidFill>
            <a:srgbClr val="02C39A"/>
          </a:solidFill>
          <a:ln/>
          <a:effectLst>
            <a:outerShdw sx="100000" sy="100000" kx="0" ky="0" algn="bl" rotWithShape="0" blurRad="76200" dist="25400" dir="5400000">
              <a:srgbClr val="0A1F33">
                <a:alpha val="18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896112" y="3209544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E2A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1298448" y="3163824"/>
            <a:ext cx="45262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deterministic Pell + SAP rules engine</a:t>
            </a:r>
            <a:endParaRPr lang="en-US" sz="1250" dirty="0"/>
          </a:p>
        </p:txBody>
      </p:sp>
      <p:sp>
        <p:nvSpPr>
          <p:cNvPr id="15" name="Shape 13"/>
          <p:cNvSpPr/>
          <p:nvPr/>
        </p:nvSpPr>
        <p:spPr>
          <a:xfrm>
            <a:off x="896112" y="3694176"/>
            <a:ext cx="292608" cy="292608"/>
          </a:xfrm>
          <a:prstGeom prst="ellipse">
            <a:avLst/>
          </a:prstGeom>
          <a:solidFill>
            <a:srgbClr val="02C39A"/>
          </a:solidFill>
          <a:ln/>
          <a:effectLst>
            <a:outerShdw sx="100000" sy="100000" kx="0" ky="0" algn="bl" rotWithShape="0" blurRad="76200" dist="25400" dir="5400000">
              <a:srgbClr val="0A1F33">
                <a:alpha val="18000"/>
              </a:srgbClr>
            </a:outerShdw>
          </a:effectLst>
        </p:spPr>
      </p:sp>
      <p:sp>
        <p:nvSpPr>
          <p:cNvPr id="16" name="Text 14"/>
          <p:cNvSpPr/>
          <p:nvPr/>
        </p:nvSpPr>
        <p:spPr>
          <a:xfrm>
            <a:off x="896112" y="3694176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E2A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1298448" y="3648456"/>
            <a:ext cx="45262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human-gate workflow + WORM audit</a:t>
            </a:r>
            <a:endParaRPr lang="en-US" sz="1250" dirty="0"/>
          </a:p>
        </p:txBody>
      </p:sp>
      <p:sp>
        <p:nvSpPr>
          <p:cNvPr id="18" name="Shape 16"/>
          <p:cNvSpPr/>
          <p:nvPr/>
        </p:nvSpPr>
        <p:spPr>
          <a:xfrm>
            <a:off x="896112" y="4178808"/>
            <a:ext cx="292608" cy="292608"/>
          </a:xfrm>
          <a:prstGeom prst="ellipse">
            <a:avLst/>
          </a:prstGeom>
          <a:solidFill>
            <a:srgbClr val="02C39A"/>
          </a:solidFill>
          <a:ln/>
          <a:effectLst>
            <a:outerShdw sx="100000" sy="100000" kx="0" ky="0" algn="bl" rotWithShape="0" blurRad="76200" dist="25400" dir="5400000">
              <a:srgbClr val="0A1F33">
                <a:alpha val="18000"/>
              </a:srgbClr>
            </a:outerShdw>
          </a:effectLst>
        </p:spPr>
      </p:sp>
      <p:sp>
        <p:nvSpPr>
          <p:cNvPr id="19" name="Text 17"/>
          <p:cNvSpPr/>
          <p:nvPr/>
        </p:nvSpPr>
        <p:spPr>
          <a:xfrm>
            <a:off x="896112" y="4178808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E2A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200" dirty="0"/>
          </a:p>
        </p:txBody>
      </p:sp>
      <p:sp>
        <p:nvSpPr>
          <p:cNvPr id="20" name="Text 18"/>
          <p:cNvSpPr/>
          <p:nvPr/>
        </p:nvSpPr>
        <p:spPr>
          <a:xfrm>
            <a:off x="1298448" y="4133088"/>
            <a:ext cx="45262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Reproducible IaC + one-command demo</a:t>
            </a:r>
            <a:endParaRPr lang="en-US" sz="1250" dirty="0"/>
          </a:p>
        </p:txBody>
      </p:sp>
      <p:sp>
        <p:nvSpPr>
          <p:cNvPr id="21" name="Shape 19"/>
          <p:cNvSpPr/>
          <p:nvPr/>
        </p:nvSpPr>
        <p:spPr>
          <a:xfrm>
            <a:off x="896112" y="4663440"/>
            <a:ext cx="292608" cy="292608"/>
          </a:xfrm>
          <a:prstGeom prst="ellipse">
            <a:avLst/>
          </a:prstGeom>
          <a:solidFill>
            <a:srgbClr val="02C39A"/>
          </a:solidFill>
          <a:ln/>
          <a:effectLst>
            <a:outerShdw sx="100000" sy="100000" kx="0" ky="0" algn="bl" rotWithShape="0" blurRad="76200" dist="25400" dir="5400000">
              <a:srgbClr val="0A1F33">
                <a:alpha val="18000"/>
              </a:srgbClr>
            </a:outerShdw>
          </a:effectLst>
        </p:spPr>
      </p:sp>
      <p:sp>
        <p:nvSpPr>
          <p:cNvPr id="22" name="Text 20"/>
          <p:cNvSpPr/>
          <p:nvPr/>
        </p:nvSpPr>
        <p:spPr>
          <a:xfrm>
            <a:off x="896112" y="4663440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E2A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200" dirty="0"/>
          </a:p>
        </p:txBody>
      </p:sp>
      <p:sp>
        <p:nvSpPr>
          <p:cNvPr id="23" name="Text 21"/>
          <p:cNvSpPr/>
          <p:nvPr/>
        </p:nvSpPr>
        <p:spPr>
          <a:xfrm>
            <a:off x="1298448" y="4617720"/>
            <a:ext cx="45262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documentation set</a:t>
            </a:r>
            <a:endParaRPr lang="en-US" sz="1250" dirty="0"/>
          </a:p>
        </p:txBody>
      </p:sp>
      <p:sp>
        <p:nvSpPr>
          <p:cNvPr id="24" name="Shape 22"/>
          <p:cNvSpPr/>
          <p:nvPr/>
        </p:nvSpPr>
        <p:spPr>
          <a:xfrm>
            <a:off x="6199632" y="1463040"/>
            <a:ext cx="5440680" cy="3794760"/>
          </a:xfrm>
          <a:prstGeom prst="roundRect">
            <a:avLst>
              <a:gd name="adj" fmla="val 2410"/>
            </a:avLst>
          </a:prstGeom>
          <a:solidFill>
            <a:srgbClr val="FFFFFF"/>
          </a:solidFill>
          <a:ln w="12700">
            <a:solidFill>
              <a:srgbClr val="D9E1E8"/>
            </a:solidFill>
            <a:prstDash val="solid"/>
          </a:ln>
          <a:effectLst>
            <a:outerShdw sx="100000" sy="100000" kx="0" ky="0" algn="bl" rotWithShape="0" blurRad="114300" dist="38100" dir="5400000">
              <a:srgbClr val="0A1F33">
                <a:alpha val="22000"/>
              </a:srgbClr>
            </a:outerShdw>
          </a:effectLst>
        </p:spPr>
      </p:sp>
      <p:sp>
        <p:nvSpPr>
          <p:cNvPr id="25" name="Text 23"/>
          <p:cNvSpPr/>
          <p:nvPr/>
        </p:nvSpPr>
        <p:spPr>
          <a:xfrm>
            <a:off x="6501384" y="1691640"/>
            <a:ext cx="4937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spc="100" kern="0" dirty="0">
                <a:solidFill>
                  <a:srgbClr val="E8A1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INSTITUTION OWNS  ·  ENGAGEMENT WORK</a:t>
            </a:r>
            <a:endParaRPr lang="en-US" sz="1250" dirty="0"/>
          </a:p>
        </p:txBody>
      </p:sp>
      <p:sp>
        <p:nvSpPr>
          <p:cNvPr id="26" name="Shape 24"/>
          <p:cNvSpPr/>
          <p:nvPr/>
        </p:nvSpPr>
        <p:spPr>
          <a:xfrm>
            <a:off x="6528816" y="2240280"/>
            <a:ext cx="292608" cy="292608"/>
          </a:xfrm>
          <a:prstGeom prst="ellipse">
            <a:avLst/>
          </a:prstGeom>
          <a:solidFill>
            <a:srgbClr val="E8A13A"/>
          </a:solidFill>
          <a:ln/>
          <a:effectLst>
            <a:outerShdw sx="100000" sy="100000" kx="0" ky="0" algn="bl" rotWithShape="0" blurRad="76200" dist="25400" dir="5400000">
              <a:srgbClr val="0A1F33">
                <a:alpha val="18000"/>
              </a:srgbClr>
            </a:outerShdw>
          </a:effectLst>
        </p:spPr>
      </p:sp>
      <p:sp>
        <p:nvSpPr>
          <p:cNvPr id="27" name="Text 25"/>
          <p:cNvSpPr/>
          <p:nvPr/>
        </p:nvSpPr>
        <p:spPr>
          <a:xfrm>
            <a:off x="6528816" y="2240280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E2A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⚙</a:t>
            </a:r>
            <a:endParaRPr lang="en-US" sz="1200" dirty="0"/>
          </a:p>
        </p:txBody>
      </p:sp>
      <p:sp>
        <p:nvSpPr>
          <p:cNvPr id="28" name="Text 26"/>
          <p:cNvSpPr/>
          <p:nvPr/>
        </p:nvSpPr>
        <p:spPr>
          <a:xfrm>
            <a:off x="6931152" y="2185416"/>
            <a:ext cx="457200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25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IdP federation + aid-officer role mapping</a:t>
            </a:r>
            <a:endParaRPr lang="en-US" sz="1250" dirty="0"/>
          </a:p>
        </p:txBody>
      </p:sp>
      <p:sp>
        <p:nvSpPr>
          <p:cNvPr id="29" name="Shape 27"/>
          <p:cNvSpPr/>
          <p:nvPr/>
        </p:nvSpPr>
        <p:spPr>
          <a:xfrm>
            <a:off x="6528816" y="2807208"/>
            <a:ext cx="292608" cy="292608"/>
          </a:xfrm>
          <a:prstGeom prst="ellipse">
            <a:avLst/>
          </a:prstGeom>
          <a:solidFill>
            <a:srgbClr val="E8A13A"/>
          </a:solidFill>
          <a:ln/>
          <a:effectLst>
            <a:outerShdw sx="100000" sy="100000" kx="0" ky="0" algn="bl" rotWithShape="0" blurRad="76200" dist="25400" dir="5400000">
              <a:srgbClr val="0A1F33">
                <a:alpha val="18000"/>
              </a:srgbClr>
            </a:outerShdw>
          </a:effectLst>
        </p:spPr>
      </p:sp>
      <p:sp>
        <p:nvSpPr>
          <p:cNvPr id="30" name="Text 28"/>
          <p:cNvSpPr/>
          <p:nvPr/>
        </p:nvSpPr>
        <p:spPr>
          <a:xfrm>
            <a:off x="6528816" y="2807208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E2A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⚙</a:t>
            </a:r>
            <a:endParaRPr lang="en-US" sz="1200" dirty="0"/>
          </a:p>
        </p:txBody>
      </p:sp>
      <p:sp>
        <p:nvSpPr>
          <p:cNvPr id="31" name="Text 29"/>
          <p:cNvSpPr/>
          <p:nvPr/>
        </p:nvSpPr>
        <p:spPr>
          <a:xfrm>
            <a:off x="6931152" y="2752344"/>
            <a:ext cx="457200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25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Connectors to the SIS / Common Origination &amp; Disbursement</a:t>
            </a:r>
            <a:endParaRPr lang="en-US" sz="1250" dirty="0"/>
          </a:p>
        </p:txBody>
      </p:sp>
      <p:sp>
        <p:nvSpPr>
          <p:cNvPr id="32" name="Shape 30"/>
          <p:cNvSpPr/>
          <p:nvPr/>
        </p:nvSpPr>
        <p:spPr>
          <a:xfrm>
            <a:off x="6528816" y="3374136"/>
            <a:ext cx="292608" cy="292608"/>
          </a:xfrm>
          <a:prstGeom prst="ellipse">
            <a:avLst/>
          </a:prstGeom>
          <a:solidFill>
            <a:srgbClr val="E8A13A"/>
          </a:solidFill>
          <a:ln/>
          <a:effectLst>
            <a:outerShdw sx="100000" sy="100000" kx="0" ky="0" algn="bl" rotWithShape="0" blurRad="76200" dist="25400" dir="5400000">
              <a:srgbClr val="0A1F33">
                <a:alpha val="18000"/>
              </a:srgbClr>
            </a:outerShdw>
          </a:effectLst>
        </p:spPr>
      </p:sp>
      <p:sp>
        <p:nvSpPr>
          <p:cNvPr id="33" name="Text 31"/>
          <p:cNvSpPr/>
          <p:nvPr/>
        </p:nvSpPr>
        <p:spPr>
          <a:xfrm>
            <a:off x="6528816" y="3374136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E2A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⚙</a:t>
            </a:r>
            <a:endParaRPr lang="en-US" sz="1200" dirty="0"/>
          </a:p>
        </p:txBody>
      </p:sp>
      <p:sp>
        <p:nvSpPr>
          <p:cNvPr id="34" name="Text 32"/>
          <p:cNvSpPr/>
          <p:nvPr/>
        </p:nvSpPr>
        <p:spPr>
          <a:xfrm>
            <a:off x="6931152" y="3319272"/>
            <a:ext cx="457200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25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Authoritative award rules &amp; thresholds (compliance review)</a:t>
            </a:r>
            <a:endParaRPr lang="en-US" sz="1250" dirty="0"/>
          </a:p>
        </p:txBody>
      </p:sp>
      <p:sp>
        <p:nvSpPr>
          <p:cNvPr id="35" name="Shape 33"/>
          <p:cNvSpPr/>
          <p:nvPr/>
        </p:nvSpPr>
        <p:spPr>
          <a:xfrm>
            <a:off x="6528816" y="3941064"/>
            <a:ext cx="292608" cy="292608"/>
          </a:xfrm>
          <a:prstGeom prst="ellipse">
            <a:avLst/>
          </a:prstGeom>
          <a:solidFill>
            <a:srgbClr val="E8A13A"/>
          </a:solidFill>
          <a:ln/>
          <a:effectLst>
            <a:outerShdw sx="100000" sy="100000" kx="0" ky="0" algn="bl" rotWithShape="0" blurRad="76200" dist="25400" dir="5400000">
              <a:srgbClr val="0A1F33">
                <a:alpha val="18000"/>
              </a:srgbClr>
            </a:outerShdw>
          </a:effectLst>
        </p:spPr>
      </p:sp>
      <p:sp>
        <p:nvSpPr>
          <p:cNvPr id="36" name="Text 34"/>
          <p:cNvSpPr/>
          <p:nvPr/>
        </p:nvSpPr>
        <p:spPr>
          <a:xfrm>
            <a:off x="6528816" y="3941064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E2A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⚙</a:t>
            </a:r>
            <a:endParaRPr lang="en-US" sz="1200" dirty="0"/>
          </a:p>
        </p:txBody>
      </p:sp>
      <p:sp>
        <p:nvSpPr>
          <p:cNvPr id="37" name="Text 35"/>
          <p:cNvSpPr/>
          <p:nvPr/>
        </p:nvSpPr>
        <p:spPr>
          <a:xfrm>
            <a:off x="6931152" y="3886200"/>
            <a:ext cx="457200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25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Notice language, SAP appeal rights, appeal process</a:t>
            </a:r>
            <a:endParaRPr lang="en-US" sz="1250" dirty="0"/>
          </a:p>
        </p:txBody>
      </p:sp>
      <p:sp>
        <p:nvSpPr>
          <p:cNvPr id="38" name="Shape 36"/>
          <p:cNvSpPr/>
          <p:nvPr/>
        </p:nvSpPr>
        <p:spPr>
          <a:xfrm>
            <a:off x="6528816" y="4507992"/>
            <a:ext cx="292608" cy="292608"/>
          </a:xfrm>
          <a:prstGeom prst="ellipse">
            <a:avLst/>
          </a:prstGeom>
          <a:solidFill>
            <a:srgbClr val="E8A13A"/>
          </a:solidFill>
          <a:ln/>
          <a:effectLst>
            <a:outerShdw sx="100000" sy="100000" kx="0" ky="0" algn="bl" rotWithShape="0" blurRad="76200" dist="25400" dir="5400000">
              <a:srgbClr val="0A1F33">
                <a:alpha val="18000"/>
              </a:srgbClr>
            </a:outerShdw>
          </a:effectLst>
        </p:spPr>
      </p:sp>
      <p:sp>
        <p:nvSpPr>
          <p:cNvPr id="39" name="Text 37"/>
          <p:cNvSpPr/>
          <p:nvPr/>
        </p:nvSpPr>
        <p:spPr>
          <a:xfrm>
            <a:off x="6528816" y="4507992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E2A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⚙</a:t>
            </a:r>
            <a:endParaRPr lang="en-US" sz="1200" dirty="0"/>
          </a:p>
        </p:txBody>
      </p:sp>
      <p:sp>
        <p:nvSpPr>
          <p:cNvPr id="40" name="Text 38"/>
          <p:cNvSpPr/>
          <p:nvPr/>
        </p:nvSpPr>
        <p:spPr>
          <a:xfrm>
            <a:off x="6931152" y="4453128"/>
            <a:ext cx="457200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25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Computer-system validation + authorization to operate</a:t>
            </a:r>
            <a:endParaRPr lang="en-US" sz="1250" dirty="0"/>
          </a:p>
        </p:txBody>
      </p:sp>
      <p:sp>
        <p:nvSpPr>
          <p:cNvPr id="41" name="Shape 39"/>
          <p:cNvSpPr/>
          <p:nvPr/>
        </p:nvSpPr>
        <p:spPr>
          <a:xfrm>
            <a:off x="566928" y="5440680"/>
            <a:ext cx="11064240" cy="640080"/>
          </a:xfrm>
          <a:prstGeom prst="roundRect">
            <a:avLst>
              <a:gd name="adj" fmla="val 12857"/>
            </a:avLst>
          </a:prstGeom>
          <a:solidFill>
            <a:srgbClr val="0E2A47"/>
          </a:solidFill>
          <a:ln/>
        </p:spPr>
      </p:sp>
      <p:sp>
        <p:nvSpPr>
          <p:cNvPr id="42" name="Text 40"/>
          <p:cNvSpPr/>
          <p:nvPr/>
        </p:nvSpPr>
        <p:spPr>
          <a:xfrm>
            <a:off x="566928" y="5440680"/>
            <a:ext cx="11064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i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Pell/SAP figures shipped here are illustrative federal defaults — not authoritative rules. Nothing is production-certified on day one, and saying so is the credibility.</a:t>
            </a:r>
            <a:endParaRPr lang="en-US" sz="1300" dirty="0"/>
          </a:p>
        </p:txBody>
      </p:sp>
      <p:sp>
        <p:nvSpPr>
          <p:cNvPr id="43" name="Text 41"/>
          <p:cNvSpPr/>
          <p:nvPr/>
        </p:nvSpPr>
        <p:spPr>
          <a:xfrm>
            <a:off x="548640" y="6455664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6B7A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Governed Agentic AI · Amazon Bedrock AgentCore</a:t>
            </a:r>
            <a:endParaRPr lang="en-US" sz="800" dirty="0"/>
          </a:p>
        </p:txBody>
      </p:sp>
      <p:sp>
        <p:nvSpPr>
          <p:cNvPr id="44" name="Text 42"/>
          <p:cNvSpPr/>
          <p:nvPr/>
        </p:nvSpPr>
        <p:spPr>
          <a:xfrm>
            <a:off x="11338560" y="6419088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A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</a:t>
            </a:r>
            <a:endParaRPr lang="en-US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0E2A4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326880" y="4206240"/>
            <a:ext cx="5029200" cy="5029200"/>
          </a:xfrm>
          <a:prstGeom prst="ellipse">
            <a:avLst/>
          </a:prstGeom>
          <a:solidFill>
            <a:srgbClr val="143A5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256032"/>
            <a:ext cx="10972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02C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ROADMAP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548640" y="411480"/>
            <a:ext cx="109728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One governed pattern, three verticals proven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566928" y="1280160"/>
            <a:ext cx="106070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4000"/>
              </a:lnSpc>
              <a:buNone/>
            </a:pPr>
            <a:r>
              <a:rPr lang="en-US" sz="14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Three heroes now run on the same governed chassis — identity, Cedar, Gateway, Runtime, and the three last-mile controls — produced from one reusable template. Each new vertical is a domain-logic swap away.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566928" y="2286000"/>
            <a:ext cx="2651760" cy="1600200"/>
          </a:xfrm>
          <a:prstGeom prst="roundRect">
            <a:avLst>
              <a:gd name="adj" fmla="val 5714"/>
            </a:avLst>
          </a:prstGeom>
          <a:solidFill>
            <a:srgbClr val="143A5E"/>
          </a:solidFill>
          <a:ln w="15875">
            <a:solidFill>
              <a:srgbClr val="02C39A"/>
            </a:solidFill>
            <a:prstDash val="solid"/>
          </a:ln>
          <a:effectLst>
            <a:outerShdw sx="100000" sy="100000" kx="0" ky="0" algn="bl" rotWithShape="0" blurRad="114300" dist="38100" dir="5400000">
              <a:srgbClr val="0A1F33">
                <a:alpha val="22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566928" y="2487168"/>
            <a:ext cx="2651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HCLS</a:t>
            </a:r>
            <a:endParaRPr lang="en-US" sz="2200" dirty="0"/>
          </a:p>
        </p:txBody>
      </p:sp>
      <p:sp>
        <p:nvSpPr>
          <p:cNvPr id="8" name="Text 6"/>
          <p:cNvSpPr/>
          <p:nvPr/>
        </p:nvSpPr>
        <p:spPr>
          <a:xfrm>
            <a:off x="658368" y="2999232"/>
            <a:ext cx="24688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25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Pharmacovigilance</a:t>
            </a:r>
            <a:endParaRPr lang="en-US" sz="1250" dirty="0"/>
          </a:p>
        </p:txBody>
      </p:sp>
      <p:sp>
        <p:nvSpPr>
          <p:cNvPr id="9" name="Shape 7"/>
          <p:cNvSpPr/>
          <p:nvPr/>
        </p:nvSpPr>
        <p:spPr>
          <a:xfrm>
            <a:off x="1344168" y="3529584"/>
            <a:ext cx="1097280" cy="274320"/>
          </a:xfrm>
          <a:prstGeom prst="roundRect">
            <a:avLst>
              <a:gd name="adj" fmla="val 50000"/>
            </a:avLst>
          </a:prstGeom>
          <a:solidFill>
            <a:srgbClr val="02C39A"/>
          </a:solidFill>
          <a:ln/>
        </p:spPr>
      </p:sp>
      <p:sp>
        <p:nvSpPr>
          <p:cNvPr id="10" name="Text 8"/>
          <p:cNvSpPr/>
          <p:nvPr/>
        </p:nvSpPr>
        <p:spPr>
          <a:xfrm>
            <a:off x="1344168" y="3529584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E2A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PROVEN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3429000" y="2286000"/>
            <a:ext cx="2651760" cy="1600200"/>
          </a:xfrm>
          <a:prstGeom prst="roundRect">
            <a:avLst>
              <a:gd name="adj" fmla="val 5714"/>
            </a:avLst>
          </a:prstGeom>
          <a:solidFill>
            <a:srgbClr val="143A5E"/>
          </a:solidFill>
          <a:ln w="15875">
            <a:solidFill>
              <a:srgbClr val="02C39A"/>
            </a:solidFill>
            <a:prstDash val="solid"/>
          </a:ln>
          <a:effectLst>
            <a:outerShdw sx="100000" sy="100000" kx="0" ky="0" algn="bl" rotWithShape="0" blurRad="114300" dist="38100" dir="5400000">
              <a:srgbClr val="0A1F33">
                <a:alpha val="2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3429000" y="2487168"/>
            <a:ext cx="2651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SLG</a:t>
            </a:r>
            <a:endParaRPr lang="en-US" sz="2200" dirty="0"/>
          </a:p>
        </p:txBody>
      </p:sp>
      <p:sp>
        <p:nvSpPr>
          <p:cNvPr id="13" name="Text 11"/>
          <p:cNvSpPr/>
          <p:nvPr/>
        </p:nvSpPr>
        <p:spPr>
          <a:xfrm>
            <a:off x="3520440" y="2999232"/>
            <a:ext cx="24688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25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Benefits Eligibility</a:t>
            </a:r>
            <a:endParaRPr lang="en-US" sz="1250" dirty="0"/>
          </a:p>
        </p:txBody>
      </p:sp>
      <p:sp>
        <p:nvSpPr>
          <p:cNvPr id="14" name="Shape 12"/>
          <p:cNvSpPr/>
          <p:nvPr/>
        </p:nvSpPr>
        <p:spPr>
          <a:xfrm>
            <a:off x="4206240" y="3529584"/>
            <a:ext cx="1097280" cy="274320"/>
          </a:xfrm>
          <a:prstGeom prst="roundRect">
            <a:avLst>
              <a:gd name="adj" fmla="val 50000"/>
            </a:avLst>
          </a:prstGeom>
          <a:solidFill>
            <a:srgbClr val="02C39A"/>
          </a:solidFill>
          <a:ln/>
        </p:spPr>
      </p:sp>
      <p:sp>
        <p:nvSpPr>
          <p:cNvPr id="15" name="Text 13"/>
          <p:cNvSpPr/>
          <p:nvPr/>
        </p:nvSpPr>
        <p:spPr>
          <a:xfrm>
            <a:off x="4206240" y="3529584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E2A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PROVEN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6291072" y="2286000"/>
            <a:ext cx="2651760" cy="1600200"/>
          </a:xfrm>
          <a:prstGeom prst="roundRect">
            <a:avLst>
              <a:gd name="adj" fmla="val 5714"/>
            </a:avLst>
          </a:prstGeom>
          <a:solidFill>
            <a:srgbClr val="143A5E"/>
          </a:solidFill>
          <a:ln w="15875">
            <a:solidFill>
              <a:srgbClr val="02C39A"/>
            </a:solidFill>
            <a:prstDash val="solid"/>
          </a:ln>
          <a:effectLst>
            <a:outerShdw sx="100000" sy="100000" kx="0" ky="0" algn="bl" rotWithShape="0" blurRad="114300" dist="38100" dir="5400000">
              <a:srgbClr val="0A1F33">
                <a:alpha val="2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6291072" y="2487168"/>
            <a:ext cx="2651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EDU</a:t>
            </a:r>
            <a:endParaRPr lang="en-US" sz="2200" dirty="0"/>
          </a:p>
        </p:txBody>
      </p:sp>
      <p:sp>
        <p:nvSpPr>
          <p:cNvPr id="18" name="Text 16"/>
          <p:cNvSpPr/>
          <p:nvPr/>
        </p:nvSpPr>
        <p:spPr>
          <a:xfrm>
            <a:off x="6382512" y="2999232"/>
            <a:ext cx="24688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25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Financial Aid</a:t>
            </a:r>
            <a:endParaRPr lang="en-US" sz="1250" dirty="0"/>
          </a:p>
        </p:txBody>
      </p:sp>
      <p:sp>
        <p:nvSpPr>
          <p:cNvPr id="19" name="Shape 17"/>
          <p:cNvSpPr/>
          <p:nvPr/>
        </p:nvSpPr>
        <p:spPr>
          <a:xfrm>
            <a:off x="7068312" y="3529584"/>
            <a:ext cx="1097280" cy="274320"/>
          </a:xfrm>
          <a:prstGeom prst="roundRect">
            <a:avLst>
              <a:gd name="adj" fmla="val 50000"/>
            </a:avLst>
          </a:prstGeom>
          <a:solidFill>
            <a:srgbClr val="02C39A"/>
          </a:solidFill>
          <a:ln/>
        </p:spPr>
      </p:sp>
      <p:sp>
        <p:nvSpPr>
          <p:cNvPr id="20" name="Text 18"/>
          <p:cNvSpPr/>
          <p:nvPr/>
        </p:nvSpPr>
        <p:spPr>
          <a:xfrm>
            <a:off x="7068312" y="3529584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E2A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PROVEN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9153144" y="2286000"/>
            <a:ext cx="2651760" cy="1600200"/>
          </a:xfrm>
          <a:prstGeom prst="roundRect">
            <a:avLst>
              <a:gd name="adj" fmla="val 5714"/>
            </a:avLst>
          </a:prstGeom>
          <a:solidFill>
            <a:srgbClr val="143A5E"/>
          </a:solidFill>
          <a:ln w="15875">
            <a:solidFill>
              <a:srgbClr val="1C7293"/>
            </a:solidFill>
            <a:prstDash val="solid"/>
          </a:ln>
          <a:effectLst>
            <a:outerShdw sx="100000" sy="100000" kx="0" ky="0" algn="bl" rotWithShape="0" blurRad="114300" dist="38100" dir="5400000">
              <a:srgbClr val="0A1F33">
                <a:alpha val="22000"/>
              </a:srgbClr>
            </a:outerShdw>
          </a:effectLst>
        </p:spPr>
      </p:sp>
      <p:sp>
        <p:nvSpPr>
          <p:cNvPr id="22" name="Text 20"/>
          <p:cNvSpPr/>
          <p:nvPr/>
        </p:nvSpPr>
        <p:spPr>
          <a:xfrm>
            <a:off x="9153144" y="2487168"/>
            <a:ext cx="2651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HPP</a:t>
            </a:r>
            <a:endParaRPr lang="en-US" sz="2200" dirty="0"/>
          </a:p>
        </p:txBody>
      </p:sp>
      <p:sp>
        <p:nvSpPr>
          <p:cNvPr id="23" name="Text 21"/>
          <p:cNvSpPr/>
          <p:nvPr/>
        </p:nvSpPr>
        <p:spPr>
          <a:xfrm>
            <a:off x="9244584" y="2999232"/>
            <a:ext cx="24688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25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Healthcare Payer / Provider</a:t>
            </a:r>
            <a:endParaRPr lang="en-US" sz="1250" dirty="0"/>
          </a:p>
        </p:txBody>
      </p:sp>
      <p:sp>
        <p:nvSpPr>
          <p:cNvPr id="24" name="Shape 22"/>
          <p:cNvSpPr/>
          <p:nvPr/>
        </p:nvSpPr>
        <p:spPr>
          <a:xfrm>
            <a:off x="9930384" y="3529584"/>
            <a:ext cx="1097280" cy="274320"/>
          </a:xfrm>
          <a:prstGeom prst="roundRect">
            <a:avLst>
              <a:gd name="adj" fmla="val 50000"/>
            </a:avLst>
          </a:prstGeom>
          <a:solidFill>
            <a:srgbClr val="1C7293"/>
          </a:solidFill>
          <a:ln/>
        </p:spPr>
      </p:sp>
      <p:sp>
        <p:nvSpPr>
          <p:cNvPr id="25" name="Text 23"/>
          <p:cNvSpPr/>
          <p:nvPr/>
        </p:nvSpPr>
        <p:spPr>
          <a:xfrm>
            <a:off x="9930384" y="3529584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E2A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NEXT</a:t>
            </a:r>
            <a:endParaRPr lang="en-US" sz="1000" dirty="0"/>
          </a:p>
        </p:txBody>
      </p:sp>
      <p:sp>
        <p:nvSpPr>
          <p:cNvPr id="26" name="Text 24"/>
          <p:cNvSpPr/>
          <p:nvPr/>
        </p:nvSpPr>
        <p:spPr>
          <a:xfrm>
            <a:off x="566928" y="4251960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spc="200" kern="0" dirty="0">
                <a:solidFill>
                  <a:srgbClr val="02C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ASK</a:t>
            </a:r>
            <a:endParaRPr lang="en-US" sz="1250" dirty="0"/>
          </a:p>
        </p:txBody>
      </p:sp>
      <p:sp>
        <p:nvSpPr>
          <p:cNvPr id="27" name="Shape 25"/>
          <p:cNvSpPr/>
          <p:nvPr/>
        </p:nvSpPr>
        <p:spPr>
          <a:xfrm>
            <a:off x="566928" y="4709160"/>
            <a:ext cx="457200" cy="457200"/>
          </a:xfrm>
          <a:prstGeom prst="ellipse">
            <a:avLst/>
          </a:prstGeom>
          <a:solidFill>
            <a:srgbClr val="02C39A"/>
          </a:solidFill>
          <a:ln/>
          <a:effectLst>
            <a:outerShdw sx="100000" sy="100000" kx="0" ky="0" algn="bl" rotWithShape="0" blurRad="76200" dist="25400" dir="5400000">
              <a:srgbClr val="0A1F33">
                <a:alpha val="18000"/>
              </a:srgbClr>
            </a:outerShdw>
          </a:effectLst>
        </p:spPr>
      </p:sp>
      <p:sp>
        <p:nvSpPr>
          <p:cNvPr id="28" name="Text 26"/>
          <p:cNvSpPr/>
          <p:nvPr/>
        </p:nvSpPr>
        <p:spPr>
          <a:xfrm>
            <a:off x="566928" y="470916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E2A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600" dirty="0"/>
          </a:p>
        </p:txBody>
      </p:sp>
      <p:sp>
        <p:nvSpPr>
          <p:cNvPr id="29" name="Text 27"/>
          <p:cNvSpPr/>
          <p:nvPr/>
        </p:nvSpPr>
        <p:spPr>
          <a:xfrm>
            <a:off x="1170432" y="4690872"/>
            <a:ext cx="30175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Internal demo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1170432" y="5001768"/>
            <a:ext cx="30175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15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Stand up the stack live and walk leadership through the 32-check proof.</a:t>
            </a:r>
            <a:endParaRPr lang="en-US" sz="1150" dirty="0"/>
          </a:p>
        </p:txBody>
      </p:sp>
      <p:sp>
        <p:nvSpPr>
          <p:cNvPr id="31" name="Shape 29"/>
          <p:cNvSpPr/>
          <p:nvPr/>
        </p:nvSpPr>
        <p:spPr>
          <a:xfrm>
            <a:off x="4279392" y="4709160"/>
            <a:ext cx="457200" cy="457200"/>
          </a:xfrm>
          <a:prstGeom prst="ellipse">
            <a:avLst/>
          </a:prstGeom>
          <a:solidFill>
            <a:srgbClr val="02C39A"/>
          </a:solidFill>
          <a:ln/>
          <a:effectLst>
            <a:outerShdw sx="100000" sy="100000" kx="0" ky="0" algn="bl" rotWithShape="0" blurRad="76200" dist="25400" dir="5400000">
              <a:srgbClr val="0A1F33">
                <a:alpha val="18000"/>
              </a:srgbClr>
            </a:outerShdw>
          </a:effectLst>
        </p:spPr>
      </p:sp>
      <p:sp>
        <p:nvSpPr>
          <p:cNvPr id="32" name="Text 30"/>
          <p:cNvSpPr/>
          <p:nvPr/>
        </p:nvSpPr>
        <p:spPr>
          <a:xfrm>
            <a:off x="4279392" y="470916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E2A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600" dirty="0"/>
          </a:p>
        </p:txBody>
      </p:sp>
      <p:sp>
        <p:nvSpPr>
          <p:cNvPr id="33" name="Text 31"/>
          <p:cNvSpPr/>
          <p:nvPr/>
        </p:nvSpPr>
        <p:spPr>
          <a:xfrm>
            <a:off x="4882896" y="4690872"/>
            <a:ext cx="30175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Institution workshops</a:t>
            </a:r>
            <a:endParaRPr lang="en-US" sz="1400" dirty="0"/>
          </a:p>
        </p:txBody>
      </p:sp>
      <p:sp>
        <p:nvSpPr>
          <p:cNvPr id="34" name="Text 32"/>
          <p:cNvSpPr/>
          <p:nvPr/>
        </p:nvSpPr>
        <p:spPr>
          <a:xfrm>
            <a:off x="4882896" y="5001768"/>
            <a:ext cx="30175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15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Take the pattern to higher-ed accounts as a reference architecture.</a:t>
            </a:r>
            <a:endParaRPr lang="en-US" sz="1150" dirty="0"/>
          </a:p>
        </p:txBody>
      </p:sp>
      <p:sp>
        <p:nvSpPr>
          <p:cNvPr id="35" name="Shape 33"/>
          <p:cNvSpPr/>
          <p:nvPr/>
        </p:nvSpPr>
        <p:spPr>
          <a:xfrm>
            <a:off x="7991856" y="4709160"/>
            <a:ext cx="457200" cy="457200"/>
          </a:xfrm>
          <a:prstGeom prst="ellipse">
            <a:avLst/>
          </a:prstGeom>
          <a:solidFill>
            <a:srgbClr val="02C39A"/>
          </a:solidFill>
          <a:ln/>
          <a:effectLst>
            <a:outerShdw sx="100000" sy="100000" kx="0" ky="0" algn="bl" rotWithShape="0" blurRad="76200" dist="25400" dir="5400000">
              <a:srgbClr val="0A1F33">
                <a:alpha val="18000"/>
              </a:srgbClr>
            </a:outerShdw>
          </a:effectLst>
        </p:spPr>
      </p:sp>
      <p:sp>
        <p:nvSpPr>
          <p:cNvPr id="36" name="Text 34"/>
          <p:cNvSpPr/>
          <p:nvPr/>
        </p:nvSpPr>
        <p:spPr>
          <a:xfrm>
            <a:off x="7991856" y="470916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E2A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600" dirty="0"/>
          </a:p>
        </p:txBody>
      </p:sp>
      <p:sp>
        <p:nvSpPr>
          <p:cNvPr id="37" name="Text 35"/>
          <p:cNvSpPr/>
          <p:nvPr/>
        </p:nvSpPr>
        <p:spPr>
          <a:xfrm>
            <a:off x="8595360" y="4690872"/>
            <a:ext cx="30175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Scoped pilot</a:t>
            </a:r>
            <a:endParaRPr lang="en-US" sz="1400" dirty="0"/>
          </a:p>
        </p:txBody>
      </p:sp>
      <p:sp>
        <p:nvSpPr>
          <p:cNvPr id="38" name="Text 36"/>
          <p:cNvSpPr/>
          <p:nvPr/>
        </p:nvSpPr>
        <p:spPr>
          <a:xfrm>
            <a:off x="8595360" y="5001768"/>
            <a:ext cx="30175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15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pilot on synthetic FAFSAs with a named institution, boundary made explicit.</a:t>
            </a:r>
            <a:endParaRPr lang="en-US" sz="1150" dirty="0"/>
          </a:p>
        </p:txBody>
      </p:sp>
      <p:sp>
        <p:nvSpPr>
          <p:cNvPr id="39" name="Text 37"/>
          <p:cNvSpPr/>
          <p:nvPr/>
        </p:nvSpPr>
        <p:spPr>
          <a:xfrm>
            <a:off x="566928" y="6080760"/>
            <a:ext cx="10972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i="1" dirty="0">
                <a:solidFill>
                  <a:srgbClr val="02C39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Governed agentic AI, native on AWS — proven where the bar is highest.</a:t>
            </a:r>
            <a:endParaRPr lang="en-US" sz="15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13</Slides>
  <Notes>13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13</vt:i4>
      </vt:variant>
    </vt:vector>
  </HeadingPairs>
  <TitlesOfParts>
    <vt:vector size="16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Governed Agentic AI for Federal Student Aid</dc:title>
  <dc:subject>PptxGenJS Presentation</dc:subject>
  <dc:creator>Financial Aid AgentCore Accelerator</dc:creator>
  <cp:lastModifiedBy>Financial Aid AgentCore Accelerator</cp:lastModifiedBy>
  <cp:revision>1</cp:revision>
  <dcterms:created xsi:type="dcterms:W3CDTF">2026-07-19T20:23:53Z</dcterms:created>
  <dcterms:modified xsi:type="dcterms:W3CDTF">2026-07-19T20:23:53Z</dcterms:modified>
</cp:coreProperties>
</file>