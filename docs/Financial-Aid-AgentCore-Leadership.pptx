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proof of the pattern: the same governed chassis that runs pharmacovigilance and benefits eligibility now runs Title IV financial-aid awarding, from one reusable template. AWS shipped the governance primitives; we implement the regulated pattern natively and prove it end-to-end.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non-negotiables that block ungoverned agents in financial aid. The rest of the deck shows how AgentCore + three last-mile controls satisfy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'why now.' Previously teams hand-rolled identity, policy engines, audit. AgentCore makes those 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of nine controls are native; three are the regulated 'last mile' we add. Positions the work as extending AgentCore, not competing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Amber = the human step; navy = the consequential commit. The callout is the crux: an aid officer commits, the agent never self-awards.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nine-control map — identical structure to the PV and benefits agents. That's the reusable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5 (fail-closed masking) and 6 (human gate) are the regulated controls; step 4 (Cedar deny-by-default) is the native spine.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EP1 clean-account run (evidence/EP1-VALIDATION.md) deployed all Gate-B switches, ran the full pipeline live inside a private network with the Scorecard call through a HUD-only... no, a .api.data.gov-only egress firewall, passed a strict PII canary (zero hits incl. Step Functions history), proved exactly-once under a 10-way replay storm, exercised the VerificationHold work-queue path, and tore down with zero residual.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Proven live: the agent runs on Runtime under a real Cognito identity, and governance holds on the real principal. Outsider proves deny-by-default even when the agent drives.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are where a governed agent earns a program reviewer's — and an appeal officer's — trust. Each maps to a named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the technical work to AWS strategy: wins regulated higher-ed deals, reusable (now proven three times), low-risk, credible because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own the pattern and the proof; the institution owns certification, connectors, and the authoritative award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multiplier: one pattern, three verticals proven, one to go. The ask is a three-step path from internal demo to a scoped, synthetic-data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1737360"/>
            <a:ext cx="5669280" cy="566928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-822960"/>
            <a:ext cx="3840480" cy="3840480"/>
          </a:xfrm>
          <a:prstGeom prst="ellipse">
            <a:avLst/>
          </a:prstGeom>
          <a:solidFill>
            <a:srgbClr val="18466F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-45720"/>
            <a:ext cx="2286000" cy="22860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AGENTCORE  ·  HIGHER EDUCATION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" y="178308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Agentic AI,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in Federal Student-Aid Awarding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Title IV financial-aid accelerator running natively on Amazon Bedrock AgentCore — identity-bound, deny-by-default with Cedar, and proven end-to-end on AWS. The third vertical built from one reusable template.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5029200"/>
            <a:ext cx="2893162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029200"/>
            <a:ext cx="2893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EP1 live validation captured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61842" y="5029200"/>
            <a:ext cx="2803550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1842" y="5029200"/>
            <a:ext cx="2803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FAFSA PII in telemetry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93992" y="5029200"/>
            <a:ext cx="3789274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93992" y="5029200"/>
            <a:ext cx="3789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Ported from the proven Housing pattern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v1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 offices want agentic AI for awarding. They can't deploy an ungoverned one.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touches student PII and education records and issues aid determinations must be identity-bound, deny-by-default, auditable, and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incapable of awarding on its own.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“Impressive demo” is not the bar — “will survive a program review and an appeal” 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352958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825496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91056" y="284378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Touches education records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SSNs, and tax-derived income flow through the FAFSA/ISIR.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77824" y="5093208"/>
            <a:ext cx="2907792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509320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FERPA · GLBA · de-identification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2514600"/>
            <a:ext cx="352958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2825496"/>
            <a:ext cx="566928" cy="56692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0857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0096" y="284378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Creates records with consequences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26864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award notice affects a student's aid and their right to appeal.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26864" y="5093208"/>
            <a:ext cx="2907792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509320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IV · student appeal rights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65008" y="2514600"/>
            <a:ext cx="352958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57616" y="2825496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5761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89136" y="284378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Takes consequential actions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75904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an award grants or denies federal aid — accountably.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375904" y="5093208"/>
            <a:ext cx="2907792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8375904" y="509320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integrity · separation of duties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just shipped the governance primitives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AgentCore now provides — as native, managed services — the exact controls a governable agent needs. The gap between a “cool agent” and a “governable agent” just closed, on AWS.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98448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98448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6656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13232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JWT — Cognito or the institution's IdP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44368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(Cedar)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980944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Deny-by-default, forbid-wins authorization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02352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33872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33872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248656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/ Lambda exposed as governed MCP tools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70064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01584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01584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79792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516368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session-isolated agent hosting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37776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69296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369296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47504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784080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spans per agent &amp; tool step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native governance primitives — no platform to hand-build.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the regulated pattern natively — don't rebuild the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143A5E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ON AGENTCORE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98448" y="22951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human + agent identity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843784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28072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authorization (Cedar)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355848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33192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intersection (agent ∩ aid officer)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867912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98448" y="383133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as governed endpoints (Gateway)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379976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4379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98448" y="43434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agent runtime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4892040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98448" y="485546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&amp; observability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1E2E1A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554480"/>
            <a:ext cx="5394960" cy="3977640"/>
          </a:xfrm>
          <a:prstGeom prst="rect">
            <a:avLst/>
          </a:prstGeom>
          <a:ln w="15875">
            <a:solidFill>
              <a:srgbClr val="E8A1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REGULATED LAST MILE — BUILT ALONGSIDE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19672" y="2395728"/>
            <a:ext cx="365760" cy="36576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19672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022592" y="23408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PII de-identification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22592" y="27614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masking → no assessment, no draft. Ever.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19672" y="3328416"/>
            <a:ext cx="365760" cy="36576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19672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22592" y="32735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gate (separation of duties)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22592" y="36941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qualified aid officer, single-use token.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19672" y="4261104"/>
            <a:ext cx="365760" cy="36576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19672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022592" y="42062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WORM audit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22592" y="46268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+ Object Lock; writer can't tamper.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on AWS-native services, plus the three controls regulated customers need that AgentCore doesn't ship. A stronger — and more honest — story than “we built our own platform.”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USE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aid: awarding Pell &amp; Title IV aid from a FAFSA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the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FAFSA / ISIR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49424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04872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04872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De-identify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87368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2816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42816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Pell,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&amp; verification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25312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80760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notice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63256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18704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18704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Aid-officer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0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756648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756648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38328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" y="3794760"/>
            <a:ext cx="822960" cy="822960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3794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2057400" y="367588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rule that drives the entire security design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057400" y="4160520"/>
            <a:ext cx="9372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Title IV and program regulations, a qualified financial-aid officer makes and commits the award determination — applying professional judgment, SAP appeals, and verification. 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intakes, de-identifies, screens, and drafts — it never self-adjudicates. Everything else in this architecture exists to enforce that one sentence.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controls native, three built alongside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51790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517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75688" y="1417320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human + agent identity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33288" y="1417320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Identity — inbound JWT (Cognito / institution IdP)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933956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203454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0345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75688" y="1933956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authorization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33288" y="1933956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Policy (Cedar) — default-deny + forbid-wins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2450592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" y="255117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25511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75688" y="2450592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intersection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33288" y="2450592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principal = OAuthUser; group claim + tool-parameter conditions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2967228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" y="306781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" y="30678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75688" y="2967228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as governed endpoints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33288" y="2967228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— Lambda → MCP tools; every call passes Policy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483864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" y="35844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35844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75688" y="3483864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hosting / runtime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33288" y="3483864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Runtime — serverless, session-isolated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000500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30" name="Shape 28"/>
          <p:cNvSpPr/>
          <p:nvPr/>
        </p:nvSpPr>
        <p:spPr>
          <a:xfrm>
            <a:off x="694944" y="410108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41010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075688" y="4000500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/ observability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33288" y="4000500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Observability — OpenTelemetry spans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4517136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94944" y="461772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4617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075688" y="4517136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PII de-identification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733288" y="4517136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mask_pii tool — Comprehend DetectPiiEntities, before model &amp; audit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6928" y="5033772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40" name="Shape 38"/>
          <p:cNvSpPr/>
          <p:nvPr/>
        </p:nvSpPr>
        <p:spPr>
          <a:xfrm>
            <a:off x="694944" y="513435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41" name="Text 39"/>
          <p:cNvSpPr/>
          <p:nvPr/>
        </p:nvSpPr>
        <p:spPr>
          <a:xfrm>
            <a:off x="694944" y="51343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075688" y="5033772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gate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733288" y="5033772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waitForTaskToken — bound, single-use approval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66928" y="5550408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694944" y="565099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44" y="56509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075688" y="5550408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WORM audit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733288" y="5550408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DynamoDB + S3 Object Lock — program-integrity evidence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BEHAVIOR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governed action flows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25296" y="13807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officer authenticates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25296" y="16733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/ IdP issues a JWT for the person on whose behalf the agent acts.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212848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25296" y="2176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decides to call a tool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25296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Strands agent runs on AgentCore Runtime and reaches for a Gateway tool.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00837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08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25296" y="2971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validates identity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25296" y="3264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auth checks the JWT before anything runs.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803904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3803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25296" y="37673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evaluates — default-deny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25296" y="40599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+ action + resource + conditions. A deny means the tool never runs — and is auditable.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10528" y="1417320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10528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68896" y="13807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runs first (fail-closed)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68896" y="16733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mask_pii de-identifies the application; assessment and drafting only ever see masked text.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10528" y="2212848"/>
            <a:ext cx="512064" cy="512064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052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168896" y="2176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for the commit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68896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request_signoff opens a Step Functions gate; a second aid officer approves. Only then does finalize_award run.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10528" y="3008376"/>
            <a:ext cx="512064" cy="512064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10528" y="3008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168896" y="2971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audit + trace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68896" y="3264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and state change is written to an immutable record and traced in Observability.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not slideware: EP1 live validation captured, all switches 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337/337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green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20440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runs live-proven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91072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91072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82512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hits in any telemetry (strict canary)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53144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53144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44584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on teardown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880360"/>
            <a:ext cx="110642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063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ran live, in ENFORCE mode, and each denial names the exact Cedar policy that fired: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6112" y="35204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347472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— aid officer ALLOW, outsider DENY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6112" y="4032504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398678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Mask-before-assess — un-masked assessment forbidden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6112" y="454456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6112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98448" y="449884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Mask-before-draft — un-masked notice forbidden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6112" y="5056632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96112" y="5056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98448" y="501091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No-self-commit — the agent can't finalize an award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35204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936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11696" y="347472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PII masking (Comprehend, fail-closed): name + SSN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4032504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09360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11696" y="398678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Pell + SAP + verification engine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454456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09360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11696" y="449884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Bedrock award notice through a Guardrail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09360" y="5056632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09360" y="5056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11696" y="501091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WORM audit + human sign-off (approver ≠ requester)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ON RUNTIME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runs on AgentCore Runtime — driven by the aid officer's identity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aid officer authenticates with Cognito; that same identity flows to the Gateway, so Cedar evaluates the real person. The agent inherits the aid officer's least-privilege — it can do nothing they aren't allowed to 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06040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606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Aid-officer identity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full governed workflow: intake → mask PII → assess aid → draft notice → write audit → request sign-off. The forbidden finalize tool is hidden from the agent entirely by Cedar.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22860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7104" y="260604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47104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78624" y="2606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Outsider identity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47104" y="32918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denied — zero authorized tools. The agent honestly reports it did nothing: nothing masked, assessed, drafted, audited, or committed. Deny-by-default holds even when the agent is driving.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66344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47914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5084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spans + structured logs per step, correlated to the identity, in CloudWatch.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9632" y="466344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73952" y="47914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5084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identity + dynamic gateway discovery: the runtime survives redeploys untouched.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REGULATED LAST MILE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controls we build on top — the review-passing difference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29584" cy="384048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29384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29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64208" y="1984248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Fail-closed PII de-identification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283464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FERPA · GLBA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7824" y="329184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Comprehend de-identifies the application before the model or the audit sees it. If masking can't run, assessment and drafting are blocked — no un-masked PII is ever emitted.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4315968" y="1600200"/>
            <a:ext cx="3529584" cy="384048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6864" y="1929384"/>
            <a:ext cx="658368" cy="65836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929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13248" y="1984248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sign-off gate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26864" y="283464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IV · separation of duties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6864" y="329184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an award is never an inline tool call. A Step Functions gate pauses for a different qualified aid officer, who approves with a bound, single-use token.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8065008" y="1600200"/>
            <a:ext cx="3529584" cy="384048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75904" y="1929384"/>
            <a:ext cx="658368" cy="65836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75904" y="1929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62288" y="1984248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WORM audit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75904" y="283464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Program-review evidence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75904" y="329184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DynamoDB + S3 Object Lock capture INTENT → COMMITTED. The principal that writes evidence is denied delete, update, and bypass.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566928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AgentCore's Observability traces are for operations — not tamper-proof evidence. That gap is exactly why the WORM audit is a control, not a log.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AWS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37944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91056" y="1801368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Wins the higher-ed bar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2587752"/>
            <a:ext cx="4837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 and universities carry strict FERPA, GLBA, and Title IV program-integrity requirements — native governance is the deciding factor, and AWS already holds the compliance footprint.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6227064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37944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51192" y="1801368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repeatable pattern, proven three times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587752"/>
            <a:ext cx="4837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governed chassis produced the pharmacovigilance, benefits, and financial-aid agents from one template — swap domain logic and fixtures.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566928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3931920"/>
            <a:ext cx="548640" cy="54864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91056" y="3895344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blast radius, high credibility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7824" y="4681728"/>
            <a:ext cx="4837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deep, proven hero per vertical beats a claim of forty shallow agents. Reference-grade, not vaporware.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6227064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931920"/>
            <a:ext cx="548640" cy="548640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51192" y="3895344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by construction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681728"/>
            <a:ext cx="4837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clear about what's proven vs. engagement work — exactly what institutions and their auditors trust.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proven vs. what's engagement 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ACCELERATOR OWNS  ·  PROVEN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96112" y="22402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19456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+ the Cedar policies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96112" y="2724912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267919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tools + fail-closed masking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6112" y="3209544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163824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Pell + SAP rules engine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6112" y="3694176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3648456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human-gate workflow + WORM audit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" y="417880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413308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IaC + one-command demo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6112" y="46634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461772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documentation set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99632" y="146304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01384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INSTITUTION OWNS  ·  ENGAGEMENT WORK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28816" y="2240280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28816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31152" y="218541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federation + aid-officer role mapping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28816" y="2807208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28816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31152" y="275234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to the SIS / Common Origination &amp; Disbursement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28816" y="3374136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28816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31152" y="331927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award rules &amp; thresholds (compliance review)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528816" y="3941064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28816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31152" y="388620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language, SAP appeal rights, appeal process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528816" y="4507992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528816" y="4507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31152" y="445312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Computer-system validation + authorization to operate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66928" y="544068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0E2A47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Pell/SAP figures shipped here are illustrative federal defaults — not authoritative rules. Nothing is production-certified on day one, and saying so is the credibility.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029200" cy="502920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governed pattern, three verticals proven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heroes now run on the same governed chassis — identity, Cedar, Gateway, Runtime, and the three last-mile controls — produced from one reusable template. Each new vertical is a domain-logic swap away.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15875">
            <a:solidFill>
              <a:srgbClr val="02C39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Pharmacovigilance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344168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344168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15875">
            <a:solidFill>
              <a:srgbClr val="02C39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Eligibility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06240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91072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15875">
            <a:solidFill>
              <a:srgbClr val="02C39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91072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82512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Aid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068312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7068312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53144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53144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HPP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44584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Payer / Provider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930384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9930384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70916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70432" y="4690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demo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70432" y="5001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stack live and walk leadership through the captured EP1 evidence.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279392" y="470916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279392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82896" y="4690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workshops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82896" y="5001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pattern to higher-ed accounts as a reference architecture.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991856" y="470916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991856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95360" y="4690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pilot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595360" y="5001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on synthetic FAFSAs with a named institution, boundary made explicit.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agentic AI, native on AWS — proven where the bar is highest.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Governed Agentic AI for Federal Student Aid</dc:title>
  <dc:subject>PptxGenJS Presentation</dc:subject>
  <dc:creator>Financial Aid AgentCore Accelerator</dc:creator>
  <cp:lastModifiedBy>Financial Aid AgentCore Accelerator</cp:lastModifiedBy>
  <cp:revision>1</cp:revision>
  <dcterms:created xsi:type="dcterms:W3CDTF">2026-09-09T14:26:54Z</dcterms:created>
  <dcterms:modified xsi:type="dcterms:W3CDTF">2026-09-09T14:26:54Z</dcterms:modified>
</cp:coreProperties>
</file>